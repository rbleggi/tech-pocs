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everyone. In the next four minutes I'll cover Flagger: what it is, the problem it solves, and how it automates safe releases on Kubernetes. (~20s)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a traditional deploy pushes the new version to everyone at once. If it's broken, everyone is affected, you often find out late from production metrics, and rollback is a manual scramble. What we really want is for a bad release to fail small instead of failing big.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Flagger is a Kubernetes operator that automates progressive delivery. Instead of one big switch, it rolls the new version out gradually, analyzes metrics at each step, and rolls back automatically if something looks wrong. It supports canary, A/B testing and blue-green, and it works on top of the mesh or ingress you already use, like Istio, Linkerd, App Mesh or NGINX, pulling metrics from Prometheus and others.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mechanics: you declare a single Canary custom resource. Flagger detects the new version, shifts a small slice of traffic to it, and analyzes error rate and latency against the thresholds you set. If the metrics stay healthy, it promotes the release, increasing traffic step by step to 100%. If any threshold is breached, it halts and rolls back to the stable version automatically. That's the whole loop. (~55s)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it actually looks like. The whole rollout is one Canary resource. You point targetRef at your Deployment, then describe the analysis: shift traffic in 10% steps up to 50%, checking every minute. The metrics block is the gate - success rate must stay at or above 99% and request duration at or below 500ms. If five checks fail, Flagger rolls back automatically. You commit this YAML and Flagger does the rest. (~50s)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be balanced. On the pro side: smaller blast radius, fully automated promotion and rollback, releases gated on real metrics, and a declarative GitOps-friendly model. The trade-offs: Flagger needs a service mesh or ingress and a metrics stack like Prometheus, so there's infrastructure to run; tuning the analysis thresholds takes some iteration; and because rollouts are gradual, each release is slower and the model fits stateless HTTP services best. For most teams the safety easily pays for the setup cost. (~45s)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A30"/>
        </a:solidFill>
      </p:bgPr>
    </p:bg>
    <p:spTree>
      <p:nvGrpSpPr>
        <p:cNvPr id="1" name=""/>
        <p:cNvGrpSpPr/>
        <p:nvPr/>
      </p:nvGrpSpPr>
      <p:grpSpPr>
        <a:xfrm>
          <a:off x="0" y="0"/>
          <a:ext cx="0" cy="0"/>
          <a:chOff x="0" y="0"/>
          <a:chExt cx="0" cy="0"/>
        </a:xfrm>
      </p:grpSpPr>
      <p:sp>
        <p:nvSpPr>
          <p:cNvPr id="2" name="Shape 0"/>
          <p:cNvSpPr/>
          <p:nvPr/>
        </p:nvSpPr>
        <p:spPr>
          <a:xfrm>
            <a:off x="9509760" y="-2011680"/>
            <a:ext cx="5120640" cy="5120640"/>
          </a:xfrm>
          <a:prstGeom prst="ellipse">
            <a:avLst/>
          </a:prstGeom>
          <a:solidFill>
            <a:srgbClr val="028090">
              <a:alpha val="22000"/>
            </a:srgbClr>
          </a:solidFill>
          <a:ln/>
        </p:spPr>
      </p:sp>
      <p:sp>
        <p:nvSpPr>
          <p:cNvPr id="3" name="Shape 1"/>
          <p:cNvSpPr/>
          <p:nvPr/>
        </p:nvSpPr>
        <p:spPr>
          <a:xfrm>
            <a:off x="10424160" y="3931920"/>
            <a:ext cx="4023360" cy="4023360"/>
          </a:xfrm>
          <a:prstGeom prst="ellipse">
            <a:avLst/>
          </a:prstGeom>
          <a:solidFill>
            <a:srgbClr val="00A896">
              <a:alpha val="18000"/>
            </a:srgbClr>
          </a:solidFill>
          <a:ln/>
        </p:spPr>
      </p:sp>
      <p:pic>
        <p:nvPicPr>
          <p:cNvPr id="4" name="Image 0" descr="preencoded.png">    </p:cNvPr>
          <p:cNvPicPr>
            <a:picLocks noChangeAspect="1"/>
          </p:cNvPicPr>
          <p:nvPr/>
        </p:nvPicPr>
        <p:blipFill>
          <a:blip r:embed="rId1"/>
          <a:stretch>
            <a:fillRect/>
          </a:stretch>
        </p:blipFill>
        <p:spPr>
          <a:xfrm>
            <a:off x="822960" y="1371600"/>
            <a:ext cx="868680" cy="868680"/>
          </a:xfrm>
          <a:prstGeom prst="rect">
            <a:avLst/>
          </a:prstGeom>
        </p:spPr>
      </p:pic>
      <p:sp>
        <p:nvSpPr>
          <p:cNvPr id="5" name="Text 2"/>
          <p:cNvSpPr/>
          <p:nvPr/>
        </p:nvSpPr>
        <p:spPr>
          <a:xfrm>
            <a:off x="822960" y="2423160"/>
            <a:ext cx="10058400" cy="1005840"/>
          </a:xfrm>
          <a:prstGeom prst="rect">
            <a:avLst/>
          </a:prstGeom>
          <a:noFill/>
          <a:ln/>
        </p:spPr>
        <p:txBody>
          <a:bodyPr wrap="square" rtlCol="0" anchor="ctr"/>
          <a:lstStyle/>
          <a:p>
            <a:pPr indent="0" marL="0">
              <a:buNone/>
            </a:pPr>
            <a:r>
              <a:rPr lang="en-US" sz="6000" b="1" spc="200" kern="0" dirty="0">
                <a:solidFill>
                  <a:srgbClr val="FFFFFF"/>
                </a:solidFill>
                <a:latin typeface="Arial" pitchFamily="34" charset="0"/>
                <a:ea typeface="Arial" pitchFamily="34" charset="-122"/>
                <a:cs typeface="Arial" pitchFamily="34" charset="-120"/>
              </a:rPr>
              <a:t>FLAGGER</a:t>
            </a:r>
            <a:endParaRPr lang="en-US" sz="6000" dirty="0"/>
          </a:p>
        </p:txBody>
      </p:sp>
      <p:sp>
        <p:nvSpPr>
          <p:cNvPr id="6" name="Text 3"/>
          <p:cNvSpPr/>
          <p:nvPr/>
        </p:nvSpPr>
        <p:spPr>
          <a:xfrm>
            <a:off x="841248" y="3520440"/>
            <a:ext cx="10058400" cy="640080"/>
          </a:xfrm>
          <a:prstGeom prst="rect">
            <a:avLst/>
          </a:prstGeom>
          <a:noFill/>
          <a:ln/>
        </p:spPr>
        <p:txBody>
          <a:bodyPr wrap="square" rtlCol="0" anchor="ctr"/>
          <a:lstStyle/>
          <a:p>
            <a:pPr indent="0" marL="0">
              <a:buNone/>
            </a:pPr>
            <a:r>
              <a:rPr lang="en-US" sz="2600" dirty="0">
                <a:solidFill>
                  <a:srgbClr val="02C39A"/>
                </a:solidFill>
                <a:latin typeface="Calibri" pitchFamily="34" charset="0"/>
                <a:ea typeface="Calibri" pitchFamily="34" charset="-122"/>
                <a:cs typeface="Calibri" pitchFamily="34" charset="-120"/>
              </a:rPr>
              <a:t>Progressive Delivery for Kubernetes</a:t>
            </a:r>
            <a:endParaRPr lang="en-US" sz="2600" dirty="0"/>
          </a:p>
        </p:txBody>
      </p:sp>
      <p:sp>
        <p:nvSpPr>
          <p:cNvPr id="7" name="Text 4"/>
          <p:cNvSpPr/>
          <p:nvPr/>
        </p:nvSpPr>
        <p:spPr>
          <a:xfrm>
            <a:off x="841248" y="4206240"/>
            <a:ext cx="8686800" cy="548640"/>
          </a:xfrm>
          <a:prstGeom prst="rect">
            <a:avLst/>
          </a:prstGeom>
          <a:noFill/>
          <a:ln/>
        </p:spPr>
        <p:txBody>
          <a:bodyPr wrap="square" rtlCol="0" anchor="ctr"/>
          <a:lstStyle/>
          <a:p>
            <a:pPr indent="0" marL="0">
              <a:buNone/>
            </a:pPr>
            <a:r>
              <a:rPr lang="en-US" sz="1600" dirty="0">
                <a:solidFill>
                  <a:srgbClr val="ABC4C8"/>
                </a:solidFill>
                <a:latin typeface="Calibri" pitchFamily="34" charset="0"/>
                <a:ea typeface="Calibri" pitchFamily="34" charset="-122"/>
                <a:cs typeface="Calibri" pitchFamily="34" charset="-120"/>
              </a:rPr>
              <a:t>Automated canary releases with metric analysis and self-healing rollbacks</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48640"/>
            <a:ext cx="548640" cy="548640"/>
          </a:xfrm>
          <a:prstGeom prst="rect">
            <a:avLst/>
          </a:prstGeom>
        </p:spPr>
      </p:pic>
      <p:sp>
        <p:nvSpPr>
          <p:cNvPr id="3" name="Text 0"/>
          <p:cNvSpPr/>
          <p:nvPr/>
        </p:nvSpPr>
        <p:spPr>
          <a:xfrm>
            <a:off x="1325880" y="566928"/>
            <a:ext cx="9144000" cy="640080"/>
          </a:xfrm>
          <a:prstGeom prst="rect">
            <a:avLst/>
          </a:prstGeom>
          <a:noFill/>
          <a:ln/>
        </p:spPr>
        <p:txBody>
          <a:bodyPr wrap="square" rtlCol="0" anchor="ctr"/>
          <a:lstStyle/>
          <a:p>
            <a:pPr indent="0" marL="0">
              <a:buNone/>
            </a:pPr>
            <a:r>
              <a:rPr lang="en-US" sz="3200" b="1" dirty="0">
                <a:solidFill>
                  <a:srgbClr val="13343B"/>
                </a:solidFill>
                <a:latin typeface="Arial" pitchFamily="34" charset="0"/>
                <a:ea typeface="Arial" pitchFamily="34" charset="-122"/>
                <a:cs typeface="Arial" pitchFamily="34" charset="-120"/>
              </a:rPr>
              <a:t>The deployment problem</a:t>
            </a:r>
            <a:endParaRPr lang="en-US" sz="3200" dirty="0"/>
          </a:p>
        </p:txBody>
      </p:sp>
      <p:sp>
        <p:nvSpPr>
          <p:cNvPr id="4" name="Text 1"/>
          <p:cNvSpPr/>
          <p:nvPr/>
        </p:nvSpPr>
        <p:spPr>
          <a:xfrm>
            <a:off x="1325880" y="1207008"/>
            <a:ext cx="10058400" cy="457200"/>
          </a:xfrm>
          <a:prstGeom prst="rect">
            <a:avLst/>
          </a:prstGeom>
          <a:noFill/>
          <a:ln/>
        </p:spPr>
        <p:txBody>
          <a:bodyPr wrap="square" rtlCol="0" anchor="ctr"/>
          <a:lstStyle/>
          <a:p>
            <a:pPr indent="0" marL="0">
              <a:buNone/>
            </a:pPr>
            <a:r>
              <a:rPr lang="en-US" sz="1600" dirty="0">
                <a:solidFill>
                  <a:srgbClr val="5A7480"/>
                </a:solidFill>
                <a:latin typeface="Calibri" pitchFamily="34" charset="0"/>
                <a:ea typeface="Calibri" pitchFamily="34" charset="-122"/>
                <a:cs typeface="Calibri" pitchFamily="34" charset="-120"/>
              </a:rPr>
              <a:t>Shipping a new version to 100% of users at once is a bet</a:t>
            </a:r>
            <a:endParaRPr lang="en-US" sz="1600" dirty="0"/>
          </a:p>
        </p:txBody>
      </p:sp>
      <p:sp>
        <p:nvSpPr>
          <p:cNvPr id="5" name="Shape 2"/>
          <p:cNvSpPr/>
          <p:nvPr/>
        </p:nvSpPr>
        <p:spPr>
          <a:xfrm>
            <a:off x="640080" y="1965960"/>
            <a:ext cx="3566160" cy="3383280"/>
          </a:xfrm>
          <a:prstGeom prst="roundRect">
            <a:avLst>
              <a:gd name="adj" fmla="val 3243"/>
            </a:avLst>
          </a:prstGeom>
          <a:solidFill>
            <a:srgbClr val="F2F7F7"/>
          </a:solidFill>
          <a:ln/>
          <a:effectLst>
            <a:outerShdw sx="100000" sy="100000" kx="0" ky="0" algn="bl" rotWithShape="0" blurRad="88900" dist="38100" dir="5400000">
              <a:srgbClr val="000000">
                <a:alpha val="12000"/>
              </a:srgbClr>
            </a:outerShdw>
          </a:effectLst>
        </p:spPr>
      </p:sp>
      <p:sp>
        <p:nvSpPr>
          <p:cNvPr id="6" name="Shape 3"/>
          <p:cNvSpPr/>
          <p:nvPr/>
        </p:nvSpPr>
        <p:spPr>
          <a:xfrm>
            <a:off x="960120" y="2331720"/>
            <a:ext cx="868680" cy="868680"/>
          </a:xfrm>
          <a:prstGeom prst="ellipse">
            <a:avLst/>
          </a:prstGeom>
          <a:solidFill>
            <a:srgbClr val="FFFFFF"/>
          </a:solidFill>
          <a:ln w="12700">
            <a:solidFill>
              <a:srgbClr val="DCE8E8"/>
            </a:solidFill>
            <a:prstDash val="solid"/>
          </a:ln>
        </p:spPr>
      </p:sp>
      <p:pic>
        <p:nvPicPr>
          <p:cNvPr id="7" name="Image 1" descr="preencoded.png">    </p:cNvPr>
          <p:cNvPicPr>
            <a:picLocks noChangeAspect="1"/>
          </p:cNvPicPr>
          <p:nvPr/>
        </p:nvPicPr>
        <p:blipFill>
          <a:blip r:embed="rId2"/>
          <a:stretch>
            <a:fillRect/>
          </a:stretch>
        </p:blipFill>
        <p:spPr>
          <a:xfrm>
            <a:off x="1170432" y="2542032"/>
            <a:ext cx="448056" cy="448056"/>
          </a:xfrm>
          <a:prstGeom prst="rect">
            <a:avLst/>
          </a:prstGeom>
        </p:spPr>
      </p:pic>
      <p:sp>
        <p:nvSpPr>
          <p:cNvPr id="8" name="Text 4"/>
          <p:cNvSpPr/>
          <p:nvPr/>
        </p:nvSpPr>
        <p:spPr>
          <a:xfrm>
            <a:off x="960120" y="3383280"/>
            <a:ext cx="2926080" cy="457200"/>
          </a:xfrm>
          <a:prstGeom prst="rect">
            <a:avLst/>
          </a:prstGeom>
          <a:noFill/>
          <a:ln/>
        </p:spPr>
        <p:txBody>
          <a:bodyPr wrap="square" rtlCol="0" anchor="ctr"/>
          <a:lstStyle/>
          <a:p>
            <a:pPr indent="0" marL="0">
              <a:buNone/>
            </a:pPr>
            <a:r>
              <a:rPr lang="en-US" sz="1900" b="1" dirty="0">
                <a:solidFill>
                  <a:srgbClr val="13343B"/>
                </a:solidFill>
                <a:latin typeface="Arial" pitchFamily="34" charset="0"/>
                <a:ea typeface="Arial" pitchFamily="34" charset="-122"/>
                <a:cs typeface="Arial" pitchFamily="34" charset="-120"/>
              </a:rPr>
              <a:t>Big-bang releases</a:t>
            </a:r>
            <a:endParaRPr lang="en-US" sz="1900" dirty="0"/>
          </a:p>
        </p:txBody>
      </p:sp>
      <p:sp>
        <p:nvSpPr>
          <p:cNvPr id="9" name="Text 5"/>
          <p:cNvSpPr/>
          <p:nvPr/>
        </p:nvSpPr>
        <p:spPr>
          <a:xfrm>
            <a:off x="960120" y="3886200"/>
            <a:ext cx="2971800" cy="1280160"/>
          </a:xfrm>
          <a:prstGeom prst="rect">
            <a:avLst/>
          </a:prstGeom>
          <a:noFill/>
          <a:ln/>
        </p:spPr>
        <p:txBody>
          <a:bodyPr wrap="square" rtlCol="0" anchor="t"/>
          <a:lstStyle/>
          <a:p>
            <a:pPr indent="0" marL="0">
              <a:buNone/>
            </a:pPr>
            <a:r>
              <a:rPr lang="en-US" sz="1450" dirty="0">
                <a:solidFill>
                  <a:srgbClr val="5A7480"/>
                </a:solidFill>
                <a:latin typeface="Calibri" pitchFamily="34" charset="0"/>
                <a:ea typeface="Calibri" pitchFamily="34" charset="-122"/>
                <a:cs typeface="Calibri" pitchFamily="34" charset="-120"/>
              </a:rPr>
              <a:t>Every user hits the new version instantly. A bad build means a full outage.</a:t>
            </a:r>
            <a:endParaRPr lang="en-US" sz="1450" dirty="0"/>
          </a:p>
        </p:txBody>
      </p:sp>
      <p:sp>
        <p:nvSpPr>
          <p:cNvPr id="10" name="Shape 6"/>
          <p:cNvSpPr/>
          <p:nvPr/>
        </p:nvSpPr>
        <p:spPr>
          <a:xfrm>
            <a:off x="4480560" y="1965960"/>
            <a:ext cx="3566160" cy="3383280"/>
          </a:xfrm>
          <a:prstGeom prst="roundRect">
            <a:avLst>
              <a:gd name="adj" fmla="val 3243"/>
            </a:avLst>
          </a:prstGeom>
          <a:solidFill>
            <a:srgbClr val="F2F7F7"/>
          </a:solidFill>
          <a:ln/>
          <a:effectLst>
            <a:outerShdw sx="100000" sy="100000" kx="0" ky="0" algn="bl" rotWithShape="0" blurRad="88900" dist="38100" dir="5400000">
              <a:srgbClr val="000000">
                <a:alpha val="12000"/>
              </a:srgbClr>
            </a:outerShdw>
          </a:effectLst>
        </p:spPr>
      </p:sp>
      <p:sp>
        <p:nvSpPr>
          <p:cNvPr id="11" name="Shape 7"/>
          <p:cNvSpPr/>
          <p:nvPr/>
        </p:nvSpPr>
        <p:spPr>
          <a:xfrm>
            <a:off x="4800600" y="2331720"/>
            <a:ext cx="868680" cy="868680"/>
          </a:xfrm>
          <a:prstGeom prst="ellipse">
            <a:avLst/>
          </a:prstGeom>
          <a:solidFill>
            <a:srgbClr val="FFFFFF"/>
          </a:solidFill>
          <a:ln w="12700">
            <a:solidFill>
              <a:srgbClr val="DCE8E8"/>
            </a:solidFill>
            <a:prstDash val="solid"/>
          </a:ln>
        </p:spPr>
      </p:sp>
      <p:pic>
        <p:nvPicPr>
          <p:cNvPr id="12" name="Image 2" descr="preencoded.png">    </p:cNvPr>
          <p:cNvPicPr>
            <a:picLocks noChangeAspect="1"/>
          </p:cNvPicPr>
          <p:nvPr/>
        </p:nvPicPr>
        <p:blipFill>
          <a:blip r:embed="rId3"/>
          <a:stretch>
            <a:fillRect/>
          </a:stretch>
        </p:blipFill>
        <p:spPr>
          <a:xfrm>
            <a:off x="5010912" y="2542032"/>
            <a:ext cx="448056" cy="448056"/>
          </a:xfrm>
          <a:prstGeom prst="rect">
            <a:avLst/>
          </a:prstGeom>
        </p:spPr>
      </p:pic>
      <p:sp>
        <p:nvSpPr>
          <p:cNvPr id="13" name="Text 8"/>
          <p:cNvSpPr/>
          <p:nvPr/>
        </p:nvSpPr>
        <p:spPr>
          <a:xfrm>
            <a:off x="4800600" y="3383280"/>
            <a:ext cx="2926080" cy="457200"/>
          </a:xfrm>
          <a:prstGeom prst="rect">
            <a:avLst/>
          </a:prstGeom>
          <a:noFill/>
          <a:ln/>
        </p:spPr>
        <p:txBody>
          <a:bodyPr wrap="square" rtlCol="0" anchor="ctr"/>
          <a:lstStyle/>
          <a:p>
            <a:pPr indent="0" marL="0">
              <a:buNone/>
            </a:pPr>
            <a:r>
              <a:rPr lang="en-US" sz="1900" b="1" dirty="0">
                <a:solidFill>
                  <a:srgbClr val="13343B"/>
                </a:solidFill>
                <a:latin typeface="Arial" pitchFamily="34" charset="0"/>
                <a:ea typeface="Arial" pitchFamily="34" charset="-122"/>
                <a:cs typeface="Arial" pitchFamily="34" charset="-120"/>
              </a:rPr>
              <a:t>Late detection</a:t>
            </a:r>
            <a:endParaRPr lang="en-US" sz="1900" dirty="0"/>
          </a:p>
        </p:txBody>
      </p:sp>
      <p:sp>
        <p:nvSpPr>
          <p:cNvPr id="14" name="Text 9"/>
          <p:cNvSpPr/>
          <p:nvPr/>
        </p:nvSpPr>
        <p:spPr>
          <a:xfrm>
            <a:off x="4800600" y="3886200"/>
            <a:ext cx="2971800" cy="1280160"/>
          </a:xfrm>
          <a:prstGeom prst="rect">
            <a:avLst/>
          </a:prstGeom>
          <a:noFill/>
          <a:ln/>
        </p:spPr>
        <p:txBody>
          <a:bodyPr wrap="square" rtlCol="0" anchor="t"/>
          <a:lstStyle/>
          <a:p>
            <a:pPr indent="0" marL="0">
              <a:buNone/>
            </a:pPr>
            <a:r>
              <a:rPr lang="en-US" sz="1450" dirty="0">
                <a:solidFill>
                  <a:srgbClr val="5A7480"/>
                </a:solidFill>
                <a:latin typeface="Calibri" pitchFamily="34" charset="0"/>
                <a:ea typeface="Calibri" pitchFamily="34" charset="-122"/>
                <a:cs typeface="Calibri" pitchFamily="34" charset="-120"/>
              </a:rPr>
              <a:t>Errors and latency spikes show up in production, after the blast radius is huge.</a:t>
            </a:r>
            <a:endParaRPr lang="en-US" sz="1450" dirty="0"/>
          </a:p>
        </p:txBody>
      </p:sp>
      <p:sp>
        <p:nvSpPr>
          <p:cNvPr id="15" name="Shape 10"/>
          <p:cNvSpPr/>
          <p:nvPr/>
        </p:nvSpPr>
        <p:spPr>
          <a:xfrm>
            <a:off x="8321040" y="1965960"/>
            <a:ext cx="3566160" cy="3383280"/>
          </a:xfrm>
          <a:prstGeom prst="roundRect">
            <a:avLst>
              <a:gd name="adj" fmla="val 3243"/>
            </a:avLst>
          </a:prstGeom>
          <a:solidFill>
            <a:srgbClr val="F2F7F7"/>
          </a:solidFill>
          <a:ln/>
          <a:effectLst>
            <a:outerShdw sx="100000" sy="100000" kx="0" ky="0" algn="bl" rotWithShape="0" blurRad="88900" dist="38100" dir="5400000">
              <a:srgbClr val="000000">
                <a:alpha val="12000"/>
              </a:srgbClr>
            </a:outerShdw>
          </a:effectLst>
        </p:spPr>
      </p:sp>
      <p:sp>
        <p:nvSpPr>
          <p:cNvPr id="16" name="Shape 11"/>
          <p:cNvSpPr/>
          <p:nvPr/>
        </p:nvSpPr>
        <p:spPr>
          <a:xfrm>
            <a:off x="8641080" y="2331720"/>
            <a:ext cx="868680" cy="868680"/>
          </a:xfrm>
          <a:prstGeom prst="ellipse">
            <a:avLst/>
          </a:prstGeom>
          <a:solidFill>
            <a:srgbClr val="FFFFFF"/>
          </a:solidFill>
          <a:ln w="12700">
            <a:solidFill>
              <a:srgbClr val="DCE8E8"/>
            </a:solidFill>
            <a:prstDash val="solid"/>
          </a:ln>
        </p:spPr>
      </p:sp>
      <p:pic>
        <p:nvPicPr>
          <p:cNvPr id="17" name="Image 3" descr="preencoded.png">    </p:cNvPr>
          <p:cNvPicPr>
            <a:picLocks noChangeAspect="1"/>
          </p:cNvPicPr>
          <p:nvPr/>
        </p:nvPicPr>
        <p:blipFill>
          <a:blip r:embed="rId4"/>
          <a:stretch>
            <a:fillRect/>
          </a:stretch>
        </p:blipFill>
        <p:spPr>
          <a:xfrm>
            <a:off x="8851392" y="2542032"/>
            <a:ext cx="448056" cy="448056"/>
          </a:xfrm>
          <a:prstGeom prst="rect">
            <a:avLst/>
          </a:prstGeom>
        </p:spPr>
      </p:pic>
      <p:sp>
        <p:nvSpPr>
          <p:cNvPr id="18" name="Text 12"/>
          <p:cNvSpPr/>
          <p:nvPr/>
        </p:nvSpPr>
        <p:spPr>
          <a:xfrm>
            <a:off x="8641080" y="3383280"/>
            <a:ext cx="2926080" cy="457200"/>
          </a:xfrm>
          <a:prstGeom prst="rect">
            <a:avLst/>
          </a:prstGeom>
          <a:noFill/>
          <a:ln/>
        </p:spPr>
        <p:txBody>
          <a:bodyPr wrap="square" rtlCol="0" anchor="ctr"/>
          <a:lstStyle/>
          <a:p>
            <a:pPr indent="0" marL="0">
              <a:buNone/>
            </a:pPr>
            <a:r>
              <a:rPr lang="en-US" sz="1900" b="1" dirty="0">
                <a:solidFill>
                  <a:srgbClr val="13343B"/>
                </a:solidFill>
                <a:latin typeface="Arial" pitchFamily="34" charset="0"/>
                <a:ea typeface="Arial" pitchFamily="34" charset="-122"/>
                <a:cs typeface="Arial" pitchFamily="34" charset="-120"/>
              </a:rPr>
              <a:t>Manual rollback</a:t>
            </a:r>
            <a:endParaRPr lang="en-US" sz="1900" dirty="0"/>
          </a:p>
        </p:txBody>
      </p:sp>
      <p:sp>
        <p:nvSpPr>
          <p:cNvPr id="19" name="Text 13"/>
          <p:cNvSpPr/>
          <p:nvPr/>
        </p:nvSpPr>
        <p:spPr>
          <a:xfrm>
            <a:off x="8641080" y="3886200"/>
            <a:ext cx="2971800" cy="1280160"/>
          </a:xfrm>
          <a:prstGeom prst="rect">
            <a:avLst/>
          </a:prstGeom>
          <a:noFill/>
          <a:ln/>
        </p:spPr>
        <p:txBody>
          <a:bodyPr wrap="square" rtlCol="0" anchor="t"/>
          <a:lstStyle/>
          <a:p>
            <a:pPr indent="0" marL="0">
              <a:buNone/>
            </a:pPr>
            <a:r>
              <a:rPr lang="en-US" sz="1450" dirty="0">
                <a:solidFill>
                  <a:srgbClr val="5A7480"/>
                </a:solidFill>
                <a:latin typeface="Calibri" pitchFamily="34" charset="0"/>
                <a:ea typeface="Calibri" pitchFamily="34" charset="-122"/>
                <a:cs typeface="Calibri" pitchFamily="34" charset="-120"/>
              </a:rPr>
              <a:t>Someone has to notice, decide, and revert by hand, under pressure.</a:t>
            </a:r>
            <a:endParaRPr lang="en-US" sz="1450" dirty="0"/>
          </a:p>
        </p:txBody>
      </p:sp>
      <p:sp>
        <p:nvSpPr>
          <p:cNvPr id="20" name="Text 14"/>
          <p:cNvSpPr/>
          <p:nvPr/>
        </p:nvSpPr>
        <p:spPr>
          <a:xfrm>
            <a:off x="640080" y="5715000"/>
            <a:ext cx="10972800" cy="457200"/>
          </a:xfrm>
          <a:prstGeom prst="rect">
            <a:avLst/>
          </a:prstGeom>
          <a:noFill/>
          <a:ln/>
        </p:spPr>
        <p:txBody>
          <a:bodyPr wrap="square" rtlCol="0" anchor="ctr"/>
          <a:lstStyle/>
          <a:p>
            <a:pPr indent="0" marL="0">
              <a:buNone/>
            </a:pPr>
            <a:r>
              <a:rPr lang="en-US" sz="1700" b="1" i="1" dirty="0">
                <a:solidFill>
                  <a:srgbClr val="028090"/>
                </a:solidFill>
                <a:latin typeface="Calibri" pitchFamily="34" charset="0"/>
                <a:ea typeface="Calibri" pitchFamily="34" charset="-122"/>
                <a:cs typeface="Calibri" pitchFamily="34" charset="-120"/>
              </a:rPr>
              <a:t>We need releases that fail small, not big.</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48640"/>
            <a:ext cx="548640" cy="548640"/>
          </a:xfrm>
          <a:prstGeom prst="rect">
            <a:avLst/>
          </a:prstGeom>
        </p:spPr>
      </p:pic>
      <p:sp>
        <p:nvSpPr>
          <p:cNvPr id="3" name="Text 0"/>
          <p:cNvSpPr/>
          <p:nvPr/>
        </p:nvSpPr>
        <p:spPr>
          <a:xfrm>
            <a:off x="1325880" y="566928"/>
            <a:ext cx="9144000" cy="640080"/>
          </a:xfrm>
          <a:prstGeom prst="rect">
            <a:avLst/>
          </a:prstGeom>
          <a:noFill/>
          <a:ln/>
        </p:spPr>
        <p:txBody>
          <a:bodyPr wrap="square" rtlCol="0" anchor="ctr"/>
          <a:lstStyle/>
          <a:p>
            <a:pPr indent="0" marL="0">
              <a:buNone/>
            </a:pPr>
            <a:r>
              <a:rPr lang="en-US" sz="3200" b="1" dirty="0">
                <a:solidFill>
                  <a:srgbClr val="13343B"/>
                </a:solidFill>
                <a:latin typeface="Arial" pitchFamily="34" charset="0"/>
                <a:ea typeface="Arial" pitchFamily="34" charset="-122"/>
                <a:cs typeface="Arial" pitchFamily="34" charset="-120"/>
              </a:rPr>
              <a:t>What is Flagger?</a:t>
            </a:r>
            <a:endParaRPr lang="en-US" sz="3200" dirty="0"/>
          </a:p>
        </p:txBody>
      </p:sp>
      <p:sp>
        <p:nvSpPr>
          <p:cNvPr id="4" name="Shape 1"/>
          <p:cNvSpPr/>
          <p:nvPr/>
        </p:nvSpPr>
        <p:spPr>
          <a:xfrm>
            <a:off x="640080" y="1417320"/>
            <a:ext cx="6400800" cy="1417320"/>
          </a:xfrm>
          <a:prstGeom prst="roundRect">
            <a:avLst>
              <a:gd name="adj" fmla="val 6452"/>
            </a:avLst>
          </a:prstGeom>
          <a:solidFill>
            <a:srgbClr val="0B2A30"/>
          </a:solidFill>
          <a:ln/>
        </p:spPr>
      </p:sp>
      <p:sp>
        <p:nvSpPr>
          <p:cNvPr id="5" name="Text 2"/>
          <p:cNvSpPr/>
          <p:nvPr/>
        </p:nvSpPr>
        <p:spPr>
          <a:xfrm>
            <a:off x="960120" y="1572768"/>
            <a:ext cx="5852160" cy="1143000"/>
          </a:xfrm>
          <a:prstGeom prst="rect">
            <a:avLst/>
          </a:prstGeom>
          <a:noFill/>
          <a:ln/>
        </p:spPr>
        <p:txBody>
          <a:bodyPr wrap="square" rtlCol="0" anchor="ctr"/>
          <a:lstStyle/>
          <a:p>
            <a:pPr indent="0" marL="0">
              <a:buNone/>
            </a:pPr>
            <a:r>
              <a:rPr lang="en-US" sz="1650" dirty="0">
                <a:solidFill>
                  <a:srgbClr val="D6E6E6"/>
                </a:solidFill>
                <a:latin typeface="Calibri" pitchFamily="34" charset="0"/>
                <a:ea typeface="Calibri" pitchFamily="34" charset="-122"/>
                <a:cs typeface="Calibri" pitchFamily="34" charset="-120"/>
              </a:rPr>
              <a:t>A Kubernetes operator that automates </a:t>
            </a:r>
            <a:pPr indent="0" marL="0">
              <a:buNone/>
            </a:pPr>
            <a:r>
              <a:rPr lang="en-US" sz="1650" b="1" dirty="0">
                <a:solidFill>
                  <a:srgbClr val="02C39A"/>
                </a:solidFill>
                <a:latin typeface="Calibri" pitchFamily="34" charset="0"/>
                <a:ea typeface="Calibri" pitchFamily="34" charset="-122"/>
                <a:cs typeface="Calibri" pitchFamily="34" charset="-120"/>
              </a:rPr>
              <a:t>progressive delivery</a:t>
            </a:r>
            <a:pPr indent="0" marL="0">
              <a:buNone/>
            </a:pPr>
            <a:r>
              <a:rPr lang="en-US" sz="1650" dirty="0">
                <a:solidFill>
                  <a:srgbClr val="D6E6E6"/>
                </a:solidFill>
                <a:latin typeface="Calibri" pitchFamily="34" charset="0"/>
                <a:ea typeface="Calibri" pitchFamily="34" charset="-122"/>
                <a:cs typeface="Calibri" pitchFamily="34" charset="-120"/>
              </a:rPr>
              <a:t> — rolling out new versions gradually while watching metrics, and rolling back automatically on failure.</a:t>
            </a:r>
            <a:endParaRPr lang="en-US" sz="1650" dirty="0"/>
          </a:p>
        </p:txBody>
      </p:sp>
      <p:sp>
        <p:nvSpPr>
          <p:cNvPr id="6" name="Shape 3"/>
          <p:cNvSpPr/>
          <p:nvPr/>
        </p:nvSpPr>
        <p:spPr>
          <a:xfrm>
            <a:off x="640080" y="3154680"/>
            <a:ext cx="2075688" cy="1691640"/>
          </a:xfrm>
          <a:prstGeom prst="roundRect">
            <a:avLst>
              <a:gd name="adj" fmla="val 5405"/>
            </a:avLst>
          </a:prstGeom>
          <a:solidFill>
            <a:srgbClr val="F2F7F7"/>
          </a:solidFill>
          <a:ln/>
          <a:effectLst>
            <a:outerShdw sx="100000" sy="100000" kx="0" ky="0" algn="bl" rotWithShape="0" blurRad="88900" dist="38100" dir="5400000">
              <a:srgbClr val="000000">
                <a:alpha val="12000"/>
              </a:srgbClr>
            </a:outerShdw>
          </a:effectLst>
        </p:spPr>
      </p:sp>
      <p:pic>
        <p:nvPicPr>
          <p:cNvPr id="7" name="Image 1" descr="preencoded.png">    </p:cNvPr>
          <p:cNvPicPr>
            <a:picLocks noChangeAspect="1"/>
          </p:cNvPicPr>
          <p:nvPr/>
        </p:nvPicPr>
        <p:blipFill>
          <a:blip r:embed="rId2"/>
          <a:stretch>
            <a:fillRect/>
          </a:stretch>
        </p:blipFill>
        <p:spPr>
          <a:xfrm>
            <a:off x="914400" y="3429000"/>
            <a:ext cx="457200" cy="457200"/>
          </a:xfrm>
          <a:prstGeom prst="rect">
            <a:avLst/>
          </a:prstGeom>
        </p:spPr>
      </p:pic>
      <p:sp>
        <p:nvSpPr>
          <p:cNvPr id="8" name="Text 4"/>
          <p:cNvSpPr/>
          <p:nvPr/>
        </p:nvSpPr>
        <p:spPr>
          <a:xfrm>
            <a:off x="914400" y="3950208"/>
            <a:ext cx="1737360" cy="365760"/>
          </a:xfrm>
          <a:prstGeom prst="rect">
            <a:avLst/>
          </a:prstGeom>
          <a:noFill/>
          <a:ln/>
        </p:spPr>
        <p:txBody>
          <a:bodyPr wrap="square" rtlCol="0" anchor="ctr"/>
          <a:lstStyle/>
          <a:p>
            <a:pPr indent="0" marL="0">
              <a:buNone/>
            </a:pPr>
            <a:r>
              <a:rPr lang="en-US" sz="1550" b="1" dirty="0">
                <a:solidFill>
                  <a:srgbClr val="13343B"/>
                </a:solidFill>
                <a:latin typeface="Arial" pitchFamily="34" charset="0"/>
                <a:ea typeface="Arial" pitchFamily="34" charset="-122"/>
                <a:cs typeface="Arial" pitchFamily="34" charset="-120"/>
              </a:rPr>
              <a:t>Canary</a:t>
            </a:r>
            <a:endParaRPr lang="en-US" sz="1550" dirty="0"/>
          </a:p>
        </p:txBody>
      </p:sp>
      <p:sp>
        <p:nvSpPr>
          <p:cNvPr id="9" name="Text 5"/>
          <p:cNvSpPr/>
          <p:nvPr/>
        </p:nvSpPr>
        <p:spPr>
          <a:xfrm>
            <a:off x="914400" y="4315968"/>
            <a:ext cx="1691640" cy="457200"/>
          </a:xfrm>
          <a:prstGeom prst="rect">
            <a:avLst/>
          </a:prstGeom>
          <a:noFill/>
          <a:ln/>
        </p:spPr>
        <p:txBody>
          <a:bodyPr wrap="square" rtlCol="0" anchor="ctr"/>
          <a:lstStyle/>
          <a:p>
            <a:pPr indent="0" marL="0">
              <a:buNone/>
            </a:pPr>
            <a:r>
              <a:rPr lang="en-US" sz="1200" dirty="0">
                <a:solidFill>
                  <a:srgbClr val="5A7480"/>
                </a:solidFill>
                <a:latin typeface="Calibri" pitchFamily="34" charset="0"/>
                <a:ea typeface="Calibri" pitchFamily="34" charset="-122"/>
                <a:cs typeface="Calibri" pitchFamily="34" charset="-120"/>
              </a:rPr>
              <a:t>Shift traffic in small steps</a:t>
            </a:r>
            <a:endParaRPr lang="en-US" sz="1200" dirty="0"/>
          </a:p>
        </p:txBody>
      </p:sp>
      <p:sp>
        <p:nvSpPr>
          <p:cNvPr id="10" name="Shape 6"/>
          <p:cNvSpPr/>
          <p:nvPr/>
        </p:nvSpPr>
        <p:spPr>
          <a:xfrm>
            <a:off x="2834640" y="3154680"/>
            <a:ext cx="2075688" cy="1691640"/>
          </a:xfrm>
          <a:prstGeom prst="roundRect">
            <a:avLst>
              <a:gd name="adj" fmla="val 5405"/>
            </a:avLst>
          </a:prstGeom>
          <a:solidFill>
            <a:srgbClr val="F2F7F7"/>
          </a:solidFill>
          <a:ln/>
          <a:effectLst>
            <a:outerShdw sx="100000" sy="100000" kx="0" ky="0" algn="bl" rotWithShape="0" blurRad="88900" dist="38100" dir="5400000">
              <a:srgbClr val="000000">
                <a:alpha val="12000"/>
              </a:srgbClr>
            </a:outerShdw>
          </a:effectLst>
        </p:spPr>
      </p:sp>
      <p:pic>
        <p:nvPicPr>
          <p:cNvPr id="11" name="Image 2" descr="preencoded.png">    </p:cNvPr>
          <p:cNvPicPr>
            <a:picLocks noChangeAspect="1"/>
          </p:cNvPicPr>
          <p:nvPr/>
        </p:nvPicPr>
        <p:blipFill>
          <a:blip r:embed="rId3"/>
          <a:stretch>
            <a:fillRect/>
          </a:stretch>
        </p:blipFill>
        <p:spPr>
          <a:xfrm>
            <a:off x="3108960" y="3429000"/>
            <a:ext cx="457200" cy="457200"/>
          </a:xfrm>
          <a:prstGeom prst="rect">
            <a:avLst/>
          </a:prstGeom>
        </p:spPr>
      </p:pic>
      <p:sp>
        <p:nvSpPr>
          <p:cNvPr id="12" name="Text 7"/>
          <p:cNvSpPr/>
          <p:nvPr/>
        </p:nvSpPr>
        <p:spPr>
          <a:xfrm>
            <a:off x="3108960" y="3950208"/>
            <a:ext cx="1737360" cy="365760"/>
          </a:xfrm>
          <a:prstGeom prst="rect">
            <a:avLst/>
          </a:prstGeom>
          <a:noFill/>
          <a:ln/>
        </p:spPr>
        <p:txBody>
          <a:bodyPr wrap="square" rtlCol="0" anchor="ctr"/>
          <a:lstStyle/>
          <a:p>
            <a:pPr indent="0" marL="0">
              <a:buNone/>
            </a:pPr>
            <a:r>
              <a:rPr lang="en-US" sz="1550" b="1" dirty="0">
                <a:solidFill>
                  <a:srgbClr val="13343B"/>
                </a:solidFill>
                <a:latin typeface="Arial" pitchFamily="34" charset="0"/>
                <a:ea typeface="Arial" pitchFamily="34" charset="-122"/>
                <a:cs typeface="Arial" pitchFamily="34" charset="-120"/>
              </a:rPr>
              <a:t>A/B testing</a:t>
            </a:r>
            <a:endParaRPr lang="en-US" sz="1550" dirty="0"/>
          </a:p>
        </p:txBody>
      </p:sp>
      <p:sp>
        <p:nvSpPr>
          <p:cNvPr id="13" name="Text 8"/>
          <p:cNvSpPr/>
          <p:nvPr/>
        </p:nvSpPr>
        <p:spPr>
          <a:xfrm>
            <a:off x="3108960" y="4315968"/>
            <a:ext cx="1691640" cy="457200"/>
          </a:xfrm>
          <a:prstGeom prst="rect">
            <a:avLst/>
          </a:prstGeom>
          <a:noFill/>
          <a:ln/>
        </p:spPr>
        <p:txBody>
          <a:bodyPr wrap="square" rtlCol="0" anchor="ctr"/>
          <a:lstStyle/>
          <a:p>
            <a:pPr indent="0" marL="0">
              <a:buNone/>
            </a:pPr>
            <a:r>
              <a:rPr lang="en-US" sz="1200" dirty="0">
                <a:solidFill>
                  <a:srgbClr val="5A7480"/>
                </a:solidFill>
                <a:latin typeface="Calibri" pitchFamily="34" charset="0"/>
                <a:ea typeface="Calibri" pitchFamily="34" charset="-122"/>
                <a:cs typeface="Calibri" pitchFamily="34" charset="-120"/>
              </a:rPr>
              <a:t>Route by headers / cookies</a:t>
            </a:r>
            <a:endParaRPr lang="en-US" sz="1200" dirty="0"/>
          </a:p>
        </p:txBody>
      </p:sp>
      <p:sp>
        <p:nvSpPr>
          <p:cNvPr id="14" name="Shape 9"/>
          <p:cNvSpPr/>
          <p:nvPr/>
        </p:nvSpPr>
        <p:spPr>
          <a:xfrm>
            <a:off x="5029200" y="3154680"/>
            <a:ext cx="2075688" cy="1691640"/>
          </a:xfrm>
          <a:prstGeom prst="roundRect">
            <a:avLst>
              <a:gd name="adj" fmla="val 5405"/>
            </a:avLst>
          </a:prstGeom>
          <a:solidFill>
            <a:srgbClr val="F2F7F7"/>
          </a:solidFill>
          <a:ln/>
          <a:effectLst>
            <a:outerShdw sx="100000" sy="100000" kx="0" ky="0" algn="bl" rotWithShape="0" blurRad="88900" dist="38100" dir="5400000">
              <a:srgbClr val="000000">
                <a:alpha val="12000"/>
              </a:srgbClr>
            </a:outerShdw>
          </a:effectLst>
        </p:spPr>
      </p:sp>
      <p:pic>
        <p:nvPicPr>
          <p:cNvPr id="15" name="Image 3" descr="preencoded.png">    </p:cNvPr>
          <p:cNvPicPr>
            <a:picLocks noChangeAspect="1"/>
          </p:cNvPicPr>
          <p:nvPr/>
        </p:nvPicPr>
        <p:blipFill>
          <a:blip r:embed="rId4"/>
          <a:stretch>
            <a:fillRect/>
          </a:stretch>
        </p:blipFill>
        <p:spPr>
          <a:xfrm>
            <a:off x="5303520" y="3429000"/>
            <a:ext cx="457200" cy="457200"/>
          </a:xfrm>
          <a:prstGeom prst="rect">
            <a:avLst/>
          </a:prstGeom>
        </p:spPr>
      </p:pic>
      <p:sp>
        <p:nvSpPr>
          <p:cNvPr id="16" name="Text 10"/>
          <p:cNvSpPr/>
          <p:nvPr/>
        </p:nvSpPr>
        <p:spPr>
          <a:xfrm>
            <a:off x="5303520" y="3950208"/>
            <a:ext cx="1737360" cy="365760"/>
          </a:xfrm>
          <a:prstGeom prst="rect">
            <a:avLst/>
          </a:prstGeom>
          <a:noFill/>
          <a:ln/>
        </p:spPr>
        <p:txBody>
          <a:bodyPr wrap="square" rtlCol="0" anchor="ctr"/>
          <a:lstStyle/>
          <a:p>
            <a:pPr indent="0" marL="0">
              <a:buNone/>
            </a:pPr>
            <a:r>
              <a:rPr lang="en-US" sz="1550" b="1" dirty="0">
                <a:solidFill>
                  <a:srgbClr val="13343B"/>
                </a:solidFill>
                <a:latin typeface="Arial" pitchFamily="34" charset="0"/>
                <a:ea typeface="Arial" pitchFamily="34" charset="-122"/>
                <a:cs typeface="Arial" pitchFamily="34" charset="-120"/>
              </a:rPr>
              <a:t>Blue / Green</a:t>
            </a:r>
            <a:endParaRPr lang="en-US" sz="1550" dirty="0"/>
          </a:p>
        </p:txBody>
      </p:sp>
      <p:sp>
        <p:nvSpPr>
          <p:cNvPr id="17" name="Text 11"/>
          <p:cNvSpPr/>
          <p:nvPr/>
        </p:nvSpPr>
        <p:spPr>
          <a:xfrm>
            <a:off x="5303520" y="4315968"/>
            <a:ext cx="1691640" cy="457200"/>
          </a:xfrm>
          <a:prstGeom prst="rect">
            <a:avLst/>
          </a:prstGeom>
          <a:noFill/>
          <a:ln/>
        </p:spPr>
        <p:txBody>
          <a:bodyPr wrap="square" rtlCol="0" anchor="ctr"/>
          <a:lstStyle/>
          <a:p>
            <a:pPr indent="0" marL="0">
              <a:buNone/>
            </a:pPr>
            <a:r>
              <a:rPr lang="en-US" sz="1200" dirty="0">
                <a:solidFill>
                  <a:srgbClr val="5A7480"/>
                </a:solidFill>
                <a:latin typeface="Calibri" pitchFamily="34" charset="0"/>
                <a:ea typeface="Calibri" pitchFamily="34" charset="-122"/>
                <a:cs typeface="Calibri" pitchFamily="34" charset="-120"/>
              </a:rPr>
              <a:t>Switch traffic in one cut</a:t>
            </a:r>
            <a:endParaRPr lang="en-US" sz="1200" dirty="0"/>
          </a:p>
        </p:txBody>
      </p:sp>
      <p:sp>
        <p:nvSpPr>
          <p:cNvPr id="18" name="Shape 12"/>
          <p:cNvSpPr/>
          <p:nvPr/>
        </p:nvSpPr>
        <p:spPr>
          <a:xfrm>
            <a:off x="7360920" y="1417320"/>
            <a:ext cx="4160520" cy="3429000"/>
          </a:xfrm>
          <a:prstGeom prst="roundRect">
            <a:avLst>
              <a:gd name="adj" fmla="val 2667"/>
            </a:avLst>
          </a:prstGeom>
          <a:solidFill>
            <a:srgbClr val="F2F7F7"/>
          </a:solidFill>
          <a:ln/>
          <a:effectLst>
            <a:outerShdw sx="100000" sy="100000" kx="0" ky="0" algn="bl" rotWithShape="0" blurRad="88900" dist="38100" dir="5400000">
              <a:srgbClr val="000000">
                <a:alpha val="12000"/>
              </a:srgbClr>
            </a:outerShdw>
          </a:effectLst>
        </p:spPr>
      </p:sp>
      <p:sp>
        <p:nvSpPr>
          <p:cNvPr id="19" name="Text 13"/>
          <p:cNvSpPr/>
          <p:nvPr/>
        </p:nvSpPr>
        <p:spPr>
          <a:xfrm>
            <a:off x="7680960" y="1645920"/>
            <a:ext cx="365760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Plugs into your mesh / ingress</a:t>
            </a:r>
            <a:endParaRPr lang="en-US" sz="1400" dirty="0"/>
          </a:p>
        </p:txBody>
      </p:sp>
      <p:pic>
        <p:nvPicPr>
          <p:cNvPr id="20" name="Image 4" descr="preencoded.png">    </p:cNvPr>
          <p:cNvPicPr>
            <a:picLocks noChangeAspect="1"/>
          </p:cNvPicPr>
          <p:nvPr/>
        </p:nvPicPr>
        <p:blipFill>
          <a:blip r:embed="rId5"/>
          <a:stretch>
            <a:fillRect/>
          </a:stretch>
        </p:blipFill>
        <p:spPr>
          <a:xfrm>
            <a:off x="7680960" y="2185416"/>
            <a:ext cx="256032" cy="256032"/>
          </a:xfrm>
          <a:prstGeom prst="rect">
            <a:avLst/>
          </a:prstGeom>
        </p:spPr>
      </p:pic>
      <p:sp>
        <p:nvSpPr>
          <p:cNvPr id="21" name="Text 14"/>
          <p:cNvSpPr/>
          <p:nvPr/>
        </p:nvSpPr>
        <p:spPr>
          <a:xfrm>
            <a:off x="8046720" y="2148840"/>
            <a:ext cx="3200400" cy="365760"/>
          </a:xfrm>
          <a:prstGeom prst="rect">
            <a:avLst/>
          </a:prstGeom>
          <a:noFill/>
          <a:ln/>
        </p:spPr>
        <p:txBody>
          <a:bodyPr wrap="square" rtlCol="0" anchor="ctr"/>
          <a:lstStyle/>
          <a:p>
            <a:pPr indent="0" marL="0">
              <a:buNone/>
            </a:pPr>
            <a:r>
              <a:rPr lang="en-US" sz="1450" dirty="0">
                <a:solidFill>
                  <a:srgbClr val="13343B"/>
                </a:solidFill>
                <a:latin typeface="Calibri" pitchFamily="34" charset="0"/>
                <a:ea typeface="Calibri" pitchFamily="34" charset="-122"/>
                <a:cs typeface="Calibri" pitchFamily="34" charset="-120"/>
              </a:rPr>
              <a:t>Istio</a:t>
            </a:r>
            <a:endParaRPr lang="en-US" sz="1450" dirty="0"/>
          </a:p>
        </p:txBody>
      </p:sp>
      <p:pic>
        <p:nvPicPr>
          <p:cNvPr id="22" name="Image 5" descr="preencoded.png">    </p:cNvPr>
          <p:cNvPicPr>
            <a:picLocks noChangeAspect="1"/>
          </p:cNvPicPr>
          <p:nvPr/>
        </p:nvPicPr>
        <p:blipFill>
          <a:blip r:embed="rId6"/>
          <a:stretch>
            <a:fillRect/>
          </a:stretch>
        </p:blipFill>
        <p:spPr>
          <a:xfrm>
            <a:off x="7680960" y="2688336"/>
            <a:ext cx="256032" cy="256032"/>
          </a:xfrm>
          <a:prstGeom prst="rect">
            <a:avLst/>
          </a:prstGeom>
        </p:spPr>
      </p:pic>
      <p:sp>
        <p:nvSpPr>
          <p:cNvPr id="23" name="Text 15"/>
          <p:cNvSpPr/>
          <p:nvPr/>
        </p:nvSpPr>
        <p:spPr>
          <a:xfrm>
            <a:off x="8046720" y="2651760"/>
            <a:ext cx="3200400" cy="365760"/>
          </a:xfrm>
          <a:prstGeom prst="rect">
            <a:avLst/>
          </a:prstGeom>
          <a:noFill/>
          <a:ln/>
        </p:spPr>
        <p:txBody>
          <a:bodyPr wrap="square" rtlCol="0" anchor="ctr"/>
          <a:lstStyle/>
          <a:p>
            <a:pPr indent="0" marL="0">
              <a:buNone/>
            </a:pPr>
            <a:r>
              <a:rPr lang="en-US" sz="1450" dirty="0">
                <a:solidFill>
                  <a:srgbClr val="13343B"/>
                </a:solidFill>
                <a:latin typeface="Calibri" pitchFamily="34" charset="0"/>
                <a:ea typeface="Calibri" pitchFamily="34" charset="-122"/>
                <a:cs typeface="Calibri" pitchFamily="34" charset="-120"/>
              </a:rPr>
              <a:t>Linkerd</a:t>
            </a:r>
            <a:endParaRPr lang="en-US" sz="1450" dirty="0"/>
          </a:p>
        </p:txBody>
      </p:sp>
      <p:pic>
        <p:nvPicPr>
          <p:cNvPr id="24" name="Image 6" descr="preencoded.png">    </p:cNvPr>
          <p:cNvPicPr>
            <a:picLocks noChangeAspect="1"/>
          </p:cNvPicPr>
          <p:nvPr/>
        </p:nvPicPr>
        <p:blipFill>
          <a:blip r:embed="rId7"/>
          <a:stretch>
            <a:fillRect/>
          </a:stretch>
        </p:blipFill>
        <p:spPr>
          <a:xfrm>
            <a:off x="7680960" y="3191256"/>
            <a:ext cx="256032" cy="256032"/>
          </a:xfrm>
          <a:prstGeom prst="rect">
            <a:avLst/>
          </a:prstGeom>
        </p:spPr>
      </p:pic>
      <p:sp>
        <p:nvSpPr>
          <p:cNvPr id="25" name="Text 16"/>
          <p:cNvSpPr/>
          <p:nvPr/>
        </p:nvSpPr>
        <p:spPr>
          <a:xfrm>
            <a:off x="8046720" y="3154680"/>
            <a:ext cx="3200400" cy="365760"/>
          </a:xfrm>
          <a:prstGeom prst="rect">
            <a:avLst/>
          </a:prstGeom>
          <a:noFill/>
          <a:ln/>
        </p:spPr>
        <p:txBody>
          <a:bodyPr wrap="square" rtlCol="0" anchor="ctr"/>
          <a:lstStyle/>
          <a:p>
            <a:pPr indent="0" marL="0">
              <a:buNone/>
            </a:pPr>
            <a:r>
              <a:rPr lang="en-US" sz="1450" dirty="0">
                <a:solidFill>
                  <a:srgbClr val="13343B"/>
                </a:solidFill>
                <a:latin typeface="Calibri" pitchFamily="34" charset="0"/>
                <a:ea typeface="Calibri" pitchFamily="34" charset="-122"/>
                <a:cs typeface="Calibri" pitchFamily="34" charset="-120"/>
              </a:rPr>
              <a:t>AWS App Mesh</a:t>
            </a:r>
            <a:endParaRPr lang="en-US" sz="1450" dirty="0"/>
          </a:p>
        </p:txBody>
      </p:sp>
      <p:pic>
        <p:nvPicPr>
          <p:cNvPr id="26" name="Image 7" descr="preencoded.png">    </p:cNvPr>
          <p:cNvPicPr>
            <a:picLocks noChangeAspect="1"/>
          </p:cNvPicPr>
          <p:nvPr/>
        </p:nvPicPr>
        <p:blipFill>
          <a:blip r:embed="rId8"/>
          <a:stretch>
            <a:fillRect/>
          </a:stretch>
        </p:blipFill>
        <p:spPr>
          <a:xfrm>
            <a:off x="7680960" y="3694176"/>
            <a:ext cx="256032" cy="256032"/>
          </a:xfrm>
          <a:prstGeom prst="rect">
            <a:avLst/>
          </a:prstGeom>
        </p:spPr>
      </p:pic>
      <p:sp>
        <p:nvSpPr>
          <p:cNvPr id="27" name="Text 17"/>
          <p:cNvSpPr/>
          <p:nvPr/>
        </p:nvSpPr>
        <p:spPr>
          <a:xfrm>
            <a:off x="8046720" y="3657600"/>
            <a:ext cx="3200400" cy="365760"/>
          </a:xfrm>
          <a:prstGeom prst="rect">
            <a:avLst/>
          </a:prstGeom>
          <a:noFill/>
          <a:ln/>
        </p:spPr>
        <p:txBody>
          <a:bodyPr wrap="square" rtlCol="0" anchor="ctr"/>
          <a:lstStyle/>
          <a:p>
            <a:pPr indent="0" marL="0">
              <a:buNone/>
            </a:pPr>
            <a:r>
              <a:rPr lang="en-US" sz="1450" dirty="0">
                <a:solidFill>
                  <a:srgbClr val="13343B"/>
                </a:solidFill>
                <a:latin typeface="Calibri" pitchFamily="34" charset="0"/>
                <a:ea typeface="Calibri" pitchFamily="34" charset="-122"/>
                <a:cs typeface="Calibri" pitchFamily="34" charset="-120"/>
              </a:rPr>
              <a:t>NGINX / Contour</a:t>
            </a:r>
            <a:endParaRPr lang="en-US" sz="1450" dirty="0"/>
          </a:p>
        </p:txBody>
      </p:sp>
      <p:pic>
        <p:nvPicPr>
          <p:cNvPr id="28" name="Image 8" descr="preencoded.png">    </p:cNvPr>
          <p:cNvPicPr>
            <a:picLocks noChangeAspect="1"/>
          </p:cNvPicPr>
          <p:nvPr/>
        </p:nvPicPr>
        <p:blipFill>
          <a:blip r:embed="rId9"/>
          <a:stretch>
            <a:fillRect/>
          </a:stretch>
        </p:blipFill>
        <p:spPr>
          <a:xfrm>
            <a:off x="7680960" y="4197096"/>
            <a:ext cx="256032" cy="256032"/>
          </a:xfrm>
          <a:prstGeom prst="rect">
            <a:avLst/>
          </a:prstGeom>
        </p:spPr>
      </p:pic>
      <p:sp>
        <p:nvSpPr>
          <p:cNvPr id="29" name="Text 18"/>
          <p:cNvSpPr/>
          <p:nvPr/>
        </p:nvSpPr>
        <p:spPr>
          <a:xfrm>
            <a:off x="8046720" y="4160520"/>
            <a:ext cx="3200400" cy="365760"/>
          </a:xfrm>
          <a:prstGeom prst="rect">
            <a:avLst/>
          </a:prstGeom>
          <a:noFill/>
          <a:ln/>
        </p:spPr>
        <p:txBody>
          <a:bodyPr wrap="square" rtlCol="0" anchor="ctr"/>
          <a:lstStyle/>
          <a:p>
            <a:pPr indent="0" marL="0">
              <a:buNone/>
            </a:pPr>
            <a:r>
              <a:rPr lang="en-US" sz="1450" dirty="0">
                <a:solidFill>
                  <a:srgbClr val="13343B"/>
                </a:solidFill>
                <a:latin typeface="Calibri" pitchFamily="34" charset="0"/>
                <a:ea typeface="Calibri" pitchFamily="34" charset="-122"/>
                <a:cs typeface="Calibri" pitchFamily="34" charset="-120"/>
              </a:rPr>
              <a:t>Gloo, Traefik, Kuma</a:t>
            </a:r>
            <a:endParaRPr lang="en-US" sz="1450" dirty="0"/>
          </a:p>
        </p:txBody>
      </p:sp>
      <p:sp>
        <p:nvSpPr>
          <p:cNvPr id="30" name="Text 19"/>
          <p:cNvSpPr/>
          <p:nvPr/>
        </p:nvSpPr>
        <p:spPr>
          <a:xfrm>
            <a:off x="640080" y="5257800"/>
            <a:ext cx="10972800" cy="457200"/>
          </a:xfrm>
          <a:prstGeom prst="rect">
            <a:avLst/>
          </a:prstGeom>
          <a:noFill/>
          <a:ln/>
        </p:spPr>
        <p:txBody>
          <a:bodyPr wrap="square" rtlCol="0" anchor="ctr"/>
          <a:lstStyle/>
          <a:p>
            <a:pPr indent="0" marL="0">
              <a:buNone/>
            </a:pPr>
            <a:r>
              <a:rPr lang="en-US" sz="1500" i="1" dirty="0">
                <a:solidFill>
                  <a:srgbClr val="5A7480"/>
                </a:solidFill>
                <a:latin typeface="Calibri" pitchFamily="34" charset="0"/>
                <a:ea typeface="Calibri" pitchFamily="34" charset="-122"/>
                <a:cs typeface="Calibri" pitchFamily="34" charset="-120"/>
              </a:rPr>
              <a:t>Metrics from Prometheus, Datadog, CloudWatch…</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2A3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48640"/>
            <a:ext cx="548640" cy="548640"/>
          </a:xfrm>
          <a:prstGeom prst="rect">
            <a:avLst/>
          </a:prstGeom>
        </p:spPr>
      </p:pic>
      <p:sp>
        <p:nvSpPr>
          <p:cNvPr id="3" name="Text 0"/>
          <p:cNvSpPr/>
          <p:nvPr/>
        </p:nvSpPr>
        <p:spPr>
          <a:xfrm>
            <a:off x="1325880" y="566928"/>
            <a:ext cx="9144000" cy="64008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How it works</a:t>
            </a:r>
            <a:endParaRPr lang="en-US" sz="3200" dirty="0"/>
          </a:p>
        </p:txBody>
      </p:sp>
      <p:sp>
        <p:nvSpPr>
          <p:cNvPr id="4" name="Text 1"/>
          <p:cNvSpPr/>
          <p:nvPr/>
        </p:nvSpPr>
        <p:spPr>
          <a:xfrm>
            <a:off x="1325880" y="1207008"/>
            <a:ext cx="10058400" cy="457200"/>
          </a:xfrm>
          <a:prstGeom prst="rect">
            <a:avLst/>
          </a:prstGeom>
          <a:noFill/>
          <a:ln/>
        </p:spPr>
        <p:txBody>
          <a:bodyPr wrap="square" rtlCol="0" anchor="ctr"/>
          <a:lstStyle/>
          <a:p>
            <a:pPr indent="0" marL="0">
              <a:buNone/>
            </a:pPr>
            <a:r>
              <a:rPr lang="en-US" sz="1600" dirty="0">
                <a:solidFill>
                  <a:srgbClr val="9FBEC2"/>
                </a:solidFill>
                <a:latin typeface="Calibri" pitchFamily="34" charset="0"/>
                <a:ea typeface="Calibri" pitchFamily="34" charset="-122"/>
                <a:cs typeface="Calibri" pitchFamily="34" charset="-120"/>
              </a:rPr>
              <a:t>You define one Canary resource. Flagger does the rest.</a:t>
            </a:r>
            <a:endParaRPr lang="en-US" sz="1600" dirty="0"/>
          </a:p>
        </p:txBody>
      </p:sp>
      <p:sp>
        <p:nvSpPr>
          <p:cNvPr id="5" name="Shape 2"/>
          <p:cNvSpPr/>
          <p:nvPr/>
        </p:nvSpPr>
        <p:spPr>
          <a:xfrm>
            <a:off x="640080" y="2011680"/>
            <a:ext cx="3246120" cy="1828800"/>
          </a:xfrm>
          <a:prstGeom prst="roundRect">
            <a:avLst>
              <a:gd name="adj" fmla="val 5000"/>
            </a:avLst>
          </a:prstGeom>
          <a:solidFill>
            <a:srgbClr val="12343B"/>
          </a:solidFill>
          <a:ln w="12700">
            <a:solidFill>
              <a:srgbClr val="1E4A52"/>
            </a:solidFill>
            <a:prstDash val="solid"/>
          </a:ln>
        </p:spPr>
      </p:sp>
      <p:pic>
        <p:nvPicPr>
          <p:cNvPr id="6" name="Image 1" descr="preencoded.png">    </p:cNvPr>
          <p:cNvPicPr>
            <a:picLocks noChangeAspect="1"/>
          </p:cNvPicPr>
          <p:nvPr/>
        </p:nvPicPr>
        <p:blipFill>
          <a:blip r:embed="rId2"/>
          <a:stretch>
            <a:fillRect/>
          </a:stretch>
        </p:blipFill>
        <p:spPr>
          <a:xfrm>
            <a:off x="932688" y="2286000"/>
            <a:ext cx="502920" cy="502920"/>
          </a:xfrm>
          <a:prstGeom prst="rect">
            <a:avLst/>
          </a:prstGeom>
        </p:spPr>
      </p:pic>
      <p:sp>
        <p:nvSpPr>
          <p:cNvPr id="7" name="Text 3"/>
          <p:cNvSpPr/>
          <p:nvPr/>
        </p:nvSpPr>
        <p:spPr>
          <a:xfrm>
            <a:off x="1554480" y="2304288"/>
            <a:ext cx="2194560" cy="457200"/>
          </a:xfrm>
          <a:prstGeom prst="rect">
            <a:avLst/>
          </a:prstGeom>
          <a:noFill/>
          <a:ln/>
        </p:spPr>
        <p:txBody>
          <a:bodyPr wrap="square" rtlCol="0" anchor="ctr"/>
          <a:lstStyle/>
          <a:p>
            <a:pPr indent="0" marL="0">
              <a:buNone/>
            </a:pPr>
            <a:r>
              <a:rPr lang="en-US" sz="1700" b="1" dirty="0">
                <a:solidFill>
                  <a:srgbClr val="02C39A"/>
                </a:solidFill>
                <a:latin typeface="Arial" pitchFamily="34" charset="0"/>
                <a:ea typeface="Arial" pitchFamily="34" charset="-122"/>
                <a:cs typeface="Arial" pitchFamily="34" charset="-120"/>
              </a:rPr>
              <a:t>1 · Detect</a:t>
            </a:r>
            <a:endParaRPr lang="en-US" sz="1700" dirty="0"/>
          </a:p>
        </p:txBody>
      </p:sp>
      <p:sp>
        <p:nvSpPr>
          <p:cNvPr id="8" name="Text 4"/>
          <p:cNvSpPr/>
          <p:nvPr/>
        </p:nvSpPr>
        <p:spPr>
          <a:xfrm>
            <a:off x="932688" y="2926080"/>
            <a:ext cx="2743200" cy="777240"/>
          </a:xfrm>
          <a:prstGeom prst="rect">
            <a:avLst/>
          </a:prstGeom>
          <a:noFill/>
          <a:ln/>
        </p:spPr>
        <p:txBody>
          <a:bodyPr wrap="square" rtlCol="0" anchor="t"/>
          <a:lstStyle/>
          <a:p>
            <a:pPr indent="0" marL="0">
              <a:buNone/>
            </a:pPr>
            <a:r>
              <a:rPr lang="en-US" sz="1350" dirty="0">
                <a:solidFill>
                  <a:srgbClr val="CFE0E2"/>
                </a:solidFill>
                <a:latin typeface="Calibri" pitchFamily="34" charset="0"/>
                <a:ea typeface="Calibri" pitchFamily="34" charset="-122"/>
                <a:cs typeface="Calibri" pitchFamily="34" charset="-120"/>
              </a:rPr>
              <a:t>New version (Deployment) is pushed</a:t>
            </a:r>
            <a:endParaRPr lang="en-US" sz="1350" dirty="0"/>
          </a:p>
        </p:txBody>
      </p:sp>
      <p:pic>
        <p:nvPicPr>
          <p:cNvPr id="9" name="Image 2" descr="preencoded.png">    </p:cNvPr>
          <p:cNvPicPr>
            <a:picLocks noChangeAspect="1"/>
          </p:cNvPicPr>
          <p:nvPr/>
        </p:nvPicPr>
        <p:blipFill>
          <a:blip r:embed="rId3"/>
          <a:stretch>
            <a:fillRect/>
          </a:stretch>
        </p:blipFill>
        <p:spPr>
          <a:xfrm>
            <a:off x="3950208" y="2743200"/>
            <a:ext cx="411480" cy="411480"/>
          </a:xfrm>
          <a:prstGeom prst="rect">
            <a:avLst/>
          </a:prstGeom>
        </p:spPr>
      </p:pic>
      <p:sp>
        <p:nvSpPr>
          <p:cNvPr id="10" name="Shape 5"/>
          <p:cNvSpPr/>
          <p:nvPr/>
        </p:nvSpPr>
        <p:spPr>
          <a:xfrm>
            <a:off x="4389120" y="2011680"/>
            <a:ext cx="3246120" cy="1828800"/>
          </a:xfrm>
          <a:prstGeom prst="roundRect">
            <a:avLst>
              <a:gd name="adj" fmla="val 5000"/>
            </a:avLst>
          </a:prstGeom>
          <a:solidFill>
            <a:srgbClr val="12343B"/>
          </a:solidFill>
          <a:ln w="12700">
            <a:solidFill>
              <a:srgbClr val="1E4A52"/>
            </a:solidFill>
            <a:prstDash val="solid"/>
          </a:ln>
        </p:spPr>
      </p:sp>
      <p:pic>
        <p:nvPicPr>
          <p:cNvPr id="11" name="Image 3" descr="preencoded.png">    </p:cNvPr>
          <p:cNvPicPr>
            <a:picLocks noChangeAspect="1"/>
          </p:cNvPicPr>
          <p:nvPr/>
        </p:nvPicPr>
        <p:blipFill>
          <a:blip r:embed="rId4"/>
          <a:stretch>
            <a:fillRect/>
          </a:stretch>
        </p:blipFill>
        <p:spPr>
          <a:xfrm>
            <a:off x="4681728" y="2286000"/>
            <a:ext cx="502920" cy="502920"/>
          </a:xfrm>
          <a:prstGeom prst="rect">
            <a:avLst/>
          </a:prstGeom>
        </p:spPr>
      </p:pic>
      <p:sp>
        <p:nvSpPr>
          <p:cNvPr id="12" name="Text 6"/>
          <p:cNvSpPr/>
          <p:nvPr/>
        </p:nvSpPr>
        <p:spPr>
          <a:xfrm>
            <a:off x="5303520" y="2304288"/>
            <a:ext cx="2194560" cy="457200"/>
          </a:xfrm>
          <a:prstGeom prst="rect">
            <a:avLst/>
          </a:prstGeom>
          <a:noFill/>
          <a:ln/>
        </p:spPr>
        <p:txBody>
          <a:bodyPr wrap="square" rtlCol="0" anchor="ctr"/>
          <a:lstStyle/>
          <a:p>
            <a:pPr indent="0" marL="0">
              <a:buNone/>
            </a:pPr>
            <a:r>
              <a:rPr lang="en-US" sz="1700" b="1" dirty="0">
                <a:solidFill>
                  <a:srgbClr val="02C39A"/>
                </a:solidFill>
                <a:latin typeface="Arial" pitchFamily="34" charset="0"/>
                <a:ea typeface="Arial" pitchFamily="34" charset="-122"/>
                <a:cs typeface="Arial" pitchFamily="34" charset="-120"/>
              </a:rPr>
              <a:t>2 · Shift</a:t>
            </a:r>
            <a:endParaRPr lang="en-US" sz="1700" dirty="0"/>
          </a:p>
        </p:txBody>
      </p:sp>
      <p:sp>
        <p:nvSpPr>
          <p:cNvPr id="13" name="Text 7"/>
          <p:cNvSpPr/>
          <p:nvPr/>
        </p:nvSpPr>
        <p:spPr>
          <a:xfrm>
            <a:off x="4681728" y="2926080"/>
            <a:ext cx="2743200" cy="777240"/>
          </a:xfrm>
          <a:prstGeom prst="rect">
            <a:avLst/>
          </a:prstGeom>
          <a:noFill/>
          <a:ln/>
        </p:spPr>
        <p:txBody>
          <a:bodyPr wrap="square" rtlCol="0" anchor="t"/>
          <a:lstStyle/>
          <a:p>
            <a:pPr indent="0" marL="0">
              <a:buNone/>
            </a:pPr>
            <a:r>
              <a:rPr lang="en-US" sz="1350" dirty="0">
                <a:solidFill>
                  <a:srgbClr val="CFE0E2"/>
                </a:solidFill>
                <a:latin typeface="Calibri" pitchFamily="34" charset="0"/>
                <a:ea typeface="Calibri" pitchFamily="34" charset="-122"/>
                <a:cs typeface="Calibri" pitchFamily="34" charset="-120"/>
              </a:rPr>
              <a:t>Route a slice of traffic to the canary</a:t>
            </a:r>
            <a:endParaRPr lang="en-US" sz="1350" dirty="0"/>
          </a:p>
        </p:txBody>
      </p:sp>
      <p:pic>
        <p:nvPicPr>
          <p:cNvPr id="14" name="Image 4" descr="preencoded.png">    </p:cNvPr>
          <p:cNvPicPr>
            <a:picLocks noChangeAspect="1"/>
          </p:cNvPicPr>
          <p:nvPr/>
        </p:nvPicPr>
        <p:blipFill>
          <a:blip r:embed="rId5"/>
          <a:stretch>
            <a:fillRect/>
          </a:stretch>
        </p:blipFill>
        <p:spPr>
          <a:xfrm>
            <a:off x="7699248" y="2743200"/>
            <a:ext cx="411480" cy="411480"/>
          </a:xfrm>
          <a:prstGeom prst="rect">
            <a:avLst/>
          </a:prstGeom>
        </p:spPr>
      </p:pic>
      <p:sp>
        <p:nvSpPr>
          <p:cNvPr id="15" name="Shape 8"/>
          <p:cNvSpPr/>
          <p:nvPr/>
        </p:nvSpPr>
        <p:spPr>
          <a:xfrm>
            <a:off x="8138160" y="2011680"/>
            <a:ext cx="3246120" cy="1828800"/>
          </a:xfrm>
          <a:prstGeom prst="roundRect">
            <a:avLst>
              <a:gd name="adj" fmla="val 5000"/>
            </a:avLst>
          </a:prstGeom>
          <a:solidFill>
            <a:srgbClr val="12343B"/>
          </a:solidFill>
          <a:ln w="12700">
            <a:solidFill>
              <a:srgbClr val="1E4A52"/>
            </a:solidFill>
            <a:prstDash val="solid"/>
          </a:ln>
        </p:spPr>
      </p:sp>
      <p:pic>
        <p:nvPicPr>
          <p:cNvPr id="16" name="Image 5" descr="preencoded.png">    </p:cNvPr>
          <p:cNvPicPr>
            <a:picLocks noChangeAspect="1"/>
          </p:cNvPicPr>
          <p:nvPr/>
        </p:nvPicPr>
        <p:blipFill>
          <a:blip r:embed="rId6"/>
          <a:stretch>
            <a:fillRect/>
          </a:stretch>
        </p:blipFill>
        <p:spPr>
          <a:xfrm>
            <a:off x="8430768" y="2286000"/>
            <a:ext cx="502920" cy="502920"/>
          </a:xfrm>
          <a:prstGeom prst="rect">
            <a:avLst/>
          </a:prstGeom>
        </p:spPr>
      </p:pic>
      <p:sp>
        <p:nvSpPr>
          <p:cNvPr id="17" name="Text 9"/>
          <p:cNvSpPr/>
          <p:nvPr/>
        </p:nvSpPr>
        <p:spPr>
          <a:xfrm>
            <a:off x="9052560" y="2304288"/>
            <a:ext cx="2194560" cy="457200"/>
          </a:xfrm>
          <a:prstGeom prst="rect">
            <a:avLst/>
          </a:prstGeom>
          <a:noFill/>
          <a:ln/>
        </p:spPr>
        <p:txBody>
          <a:bodyPr wrap="square" rtlCol="0" anchor="ctr"/>
          <a:lstStyle/>
          <a:p>
            <a:pPr indent="0" marL="0">
              <a:buNone/>
            </a:pPr>
            <a:r>
              <a:rPr lang="en-US" sz="1700" b="1" dirty="0">
                <a:solidFill>
                  <a:srgbClr val="02C39A"/>
                </a:solidFill>
                <a:latin typeface="Arial" pitchFamily="34" charset="0"/>
                <a:ea typeface="Arial" pitchFamily="34" charset="-122"/>
                <a:cs typeface="Arial" pitchFamily="34" charset="-120"/>
              </a:rPr>
              <a:t>3 · Analyze</a:t>
            </a:r>
            <a:endParaRPr lang="en-US" sz="1700" dirty="0"/>
          </a:p>
        </p:txBody>
      </p:sp>
      <p:sp>
        <p:nvSpPr>
          <p:cNvPr id="18" name="Text 10"/>
          <p:cNvSpPr/>
          <p:nvPr/>
        </p:nvSpPr>
        <p:spPr>
          <a:xfrm>
            <a:off x="8430768" y="2926080"/>
            <a:ext cx="2743200" cy="777240"/>
          </a:xfrm>
          <a:prstGeom prst="rect">
            <a:avLst/>
          </a:prstGeom>
          <a:noFill/>
          <a:ln/>
        </p:spPr>
        <p:txBody>
          <a:bodyPr wrap="square" rtlCol="0" anchor="t"/>
          <a:lstStyle/>
          <a:p>
            <a:pPr indent="0" marL="0">
              <a:buNone/>
            </a:pPr>
            <a:r>
              <a:rPr lang="en-US" sz="1350" dirty="0">
                <a:solidFill>
                  <a:srgbClr val="CFE0E2"/>
                </a:solidFill>
                <a:latin typeface="Calibri" pitchFamily="34" charset="0"/>
                <a:ea typeface="Calibri" pitchFamily="34" charset="-122"/>
                <a:cs typeface="Calibri" pitchFamily="34" charset="-120"/>
              </a:rPr>
              <a:t>Check error rate &amp; latency vs thresholds</a:t>
            </a:r>
            <a:endParaRPr lang="en-US" sz="1350" dirty="0"/>
          </a:p>
        </p:txBody>
      </p:sp>
      <p:sp>
        <p:nvSpPr>
          <p:cNvPr id="19" name="Shape 11"/>
          <p:cNvSpPr/>
          <p:nvPr/>
        </p:nvSpPr>
        <p:spPr>
          <a:xfrm>
            <a:off x="640080" y="4343400"/>
            <a:ext cx="5349240" cy="1737360"/>
          </a:xfrm>
          <a:prstGeom prst="roundRect">
            <a:avLst>
              <a:gd name="adj" fmla="val 5263"/>
            </a:avLst>
          </a:prstGeom>
          <a:solidFill>
            <a:srgbClr val="0E3A33"/>
          </a:solidFill>
          <a:ln w="15875">
            <a:solidFill>
              <a:srgbClr val="02C39A"/>
            </a:solidFill>
            <a:prstDash val="solid"/>
          </a:ln>
        </p:spPr>
      </p:sp>
      <p:pic>
        <p:nvPicPr>
          <p:cNvPr id="20" name="Image 6" descr="preencoded.png">    </p:cNvPr>
          <p:cNvPicPr>
            <a:picLocks noChangeAspect="1"/>
          </p:cNvPicPr>
          <p:nvPr/>
        </p:nvPicPr>
        <p:blipFill>
          <a:blip r:embed="rId7"/>
          <a:stretch>
            <a:fillRect/>
          </a:stretch>
        </p:blipFill>
        <p:spPr>
          <a:xfrm>
            <a:off x="960120" y="4617720"/>
            <a:ext cx="457200" cy="457200"/>
          </a:xfrm>
          <a:prstGeom prst="rect">
            <a:avLst/>
          </a:prstGeom>
        </p:spPr>
      </p:pic>
      <p:sp>
        <p:nvSpPr>
          <p:cNvPr id="21" name="Text 12"/>
          <p:cNvSpPr/>
          <p:nvPr/>
        </p:nvSpPr>
        <p:spPr>
          <a:xfrm>
            <a:off x="1554480" y="4636008"/>
            <a:ext cx="4114800" cy="411480"/>
          </a:xfrm>
          <a:prstGeom prst="rect">
            <a:avLst/>
          </a:prstGeom>
          <a:noFill/>
          <a:ln/>
        </p:spPr>
        <p:txBody>
          <a:bodyPr wrap="square" rtlCol="0" anchor="ctr"/>
          <a:lstStyle/>
          <a:p>
            <a:pPr indent="0" marL="0">
              <a:buNone/>
            </a:pPr>
            <a:r>
              <a:rPr lang="en-US" sz="1700" b="1" dirty="0">
                <a:solidFill>
                  <a:srgbClr val="02C39A"/>
                </a:solidFill>
                <a:latin typeface="Arial" pitchFamily="34" charset="0"/>
                <a:ea typeface="Arial" pitchFamily="34" charset="-122"/>
                <a:cs typeface="Arial" pitchFamily="34" charset="-120"/>
              </a:rPr>
              <a:t>Metrics healthy</a:t>
            </a:r>
            <a:endParaRPr lang="en-US" sz="1700" dirty="0"/>
          </a:p>
        </p:txBody>
      </p:sp>
      <p:sp>
        <p:nvSpPr>
          <p:cNvPr id="22" name="Text 13"/>
          <p:cNvSpPr/>
          <p:nvPr/>
        </p:nvSpPr>
        <p:spPr>
          <a:xfrm>
            <a:off x="960120" y="5166360"/>
            <a:ext cx="4846320" cy="777240"/>
          </a:xfrm>
          <a:prstGeom prst="rect">
            <a:avLst/>
          </a:prstGeom>
          <a:noFill/>
          <a:ln/>
        </p:spPr>
        <p:txBody>
          <a:bodyPr wrap="square" rtlCol="0" anchor="t"/>
          <a:lstStyle/>
          <a:p>
            <a:pPr indent="0" marL="0">
              <a:buNone/>
            </a:pPr>
            <a:r>
              <a:rPr lang="en-US" sz="1400" dirty="0">
                <a:solidFill>
                  <a:srgbClr val="D6EFE9"/>
                </a:solidFill>
                <a:latin typeface="Calibri" pitchFamily="34" charset="0"/>
                <a:ea typeface="Calibri" pitchFamily="34" charset="-122"/>
                <a:cs typeface="Calibri" pitchFamily="34" charset="-120"/>
              </a:rPr>
              <a:t>Promote: raise traffic step by step until the canary takes 100%.</a:t>
            </a:r>
            <a:endParaRPr lang="en-US" sz="1400" dirty="0"/>
          </a:p>
        </p:txBody>
      </p:sp>
      <p:sp>
        <p:nvSpPr>
          <p:cNvPr id="23" name="Shape 14"/>
          <p:cNvSpPr/>
          <p:nvPr/>
        </p:nvSpPr>
        <p:spPr>
          <a:xfrm>
            <a:off x="6172200" y="4343400"/>
            <a:ext cx="5349240" cy="1737360"/>
          </a:xfrm>
          <a:prstGeom prst="roundRect">
            <a:avLst>
              <a:gd name="adj" fmla="val 5263"/>
            </a:avLst>
          </a:prstGeom>
          <a:solidFill>
            <a:srgbClr val="3A1715"/>
          </a:solidFill>
          <a:ln w="15875">
            <a:solidFill>
              <a:srgbClr val="E5564E"/>
            </a:solidFill>
            <a:prstDash val="solid"/>
          </a:ln>
        </p:spPr>
      </p:sp>
      <p:pic>
        <p:nvPicPr>
          <p:cNvPr id="24" name="Image 7" descr="preencoded.png">    </p:cNvPr>
          <p:cNvPicPr>
            <a:picLocks noChangeAspect="1"/>
          </p:cNvPicPr>
          <p:nvPr/>
        </p:nvPicPr>
        <p:blipFill>
          <a:blip r:embed="rId8"/>
          <a:stretch>
            <a:fillRect/>
          </a:stretch>
        </p:blipFill>
        <p:spPr>
          <a:xfrm>
            <a:off x="6492240" y="4617720"/>
            <a:ext cx="457200" cy="457200"/>
          </a:xfrm>
          <a:prstGeom prst="rect">
            <a:avLst/>
          </a:prstGeom>
        </p:spPr>
      </p:pic>
      <p:sp>
        <p:nvSpPr>
          <p:cNvPr id="25" name="Text 15"/>
          <p:cNvSpPr/>
          <p:nvPr/>
        </p:nvSpPr>
        <p:spPr>
          <a:xfrm>
            <a:off x="7086600" y="4636008"/>
            <a:ext cx="4114800" cy="411480"/>
          </a:xfrm>
          <a:prstGeom prst="rect">
            <a:avLst/>
          </a:prstGeom>
          <a:noFill/>
          <a:ln/>
        </p:spPr>
        <p:txBody>
          <a:bodyPr wrap="square" rtlCol="0" anchor="ctr"/>
          <a:lstStyle/>
          <a:p>
            <a:pPr indent="0" marL="0">
              <a:buNone/>
            </a:pPr>
            <a:r>
              <a:rPr lang="en-US" sz="1700" b="1" dirty="0">
                <a:solidFill>
                  <a:srgbClr val="F2A8A2"/>
                </a:solidFill>
                <a:latin typeface="Arial" pitchFamily="34" charset="0"/>
                <a:ea typeface="Arial" pitchFamily="34" charset="-122"/>
                <a:cs typeface="Arial" pitchFamily="34" charset="-120"/>
              </a:rPr>
              <a:t>Threshold breached</a:t>
            </a:r>
            <a:endParaRPr lang="en-US" sz="1700" dirty="0"/>
          </a:p>
        </p:txBody>
      </p:sp>
      <p:sp>
        <p:nvSpPr>
          <p:cNvPr id="26" name="Text 16"/>
          <p:cNvSpPr/>
          <p:nvPr/>
        </p:nvSpPr>
        <p:spPr>
          <a:xfrm>
            <a:off x="6492240" y="5166360"/>
            <a:ext cx="4846320" cy="777240"/>
          </a:xfrm>
          <a:prstGeom prst="rect">
            <a:avLst/>
          </a:prstGeom>
          <a:noFill/>
          <a:ln/>
        </p:spPr>
        <p:txBody>
          <a:bodyPr wrap="square" rtlCol="0" anchor="t"/>
          <a:lstStyle/>
          <a:p>
            <a:pPr indent="0" marL="0">
              <a:buNone/>
            </a:pPr>
            <a:r>
              <a:rPr lang="en-US" sz="1400" dirty="0">
                <a:solidFill>
                  <a:srgbClr val="F3D6D3"/>
                </a:solidFill>
                <a:latin typeface="Calibri" pitchFamily="34" charset="0"/>
                <a:ea typeface="Calibri" pitchFamily="34" charset="-122"/>
                <a:cs typeface="Calibri" pitchFamily="34" charset="-120"/>
              </a:rPr>
              <a:t>Halt and roll back to the stable version automatically. No pager, no panic.</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48640"/>
            <a:ext cx="502920" cy="502920"/>
          </a:xfrm>
          <a:prstGeom prst="rect">
            <a:avLst/>
          </a:prstGeom>
        </p:spPr>
      </p:pic>
      <p:sp>
        <p:nvSpPr>
          <p:cNvPr id="3" name="Text 0"/>
          <p:cNvSpPr/>
          <p:nvPr/>
        </p:nvSpPr>
        <p:spPr>
          <a:xfrm>
            <a:off x="1280160" y="548640"/>
            <a:ext cx="10058400" cy="640080"/>
          </a:xfrm>
          <a:prstGeom prst="rect">
            <a:avLst/>
          </a:prstGeom>
          <a:noFill/>
          <a:ln/>
        </p:spPr>
        <p:txBody>
          <a:bodyPr wrap="square" rtlCol="0" anchor="ctr"/>
          <a:lstStyle/>
          <a:p>
            <a:pPr indent="0" marL="0">
              <a:buNone/>
            </a:pPr>
            <a:r>
              <a:rPr lang="en-US" sz="3000" b="1" dirty="0">
                <a:solidFill>
                  <a:srgbClr val="13343B"/>
                </a:solidFill>
                <a:latin typeface="Arial" pitchFamily="34" charset="0"/>
                <a:ea typeface="Arial" pitchFamily="34" charset="-122"/>
                <a:cs typeface="Arial" pitchFamily="34" charset="-120"/>
              </a:rPr>
              <a:t>One resource defines the rollout</a:t>
            </a:r>
            <a:endParaRPr lang="en-US" sz="3000" dirty="0"/>
          </a:p>
        </p:txBody>
      </p:sp>
      <p:sp>
        <p:nvSpPr>
          <p:cNvPr id="4" name="Text 1"/>
          <p:cNvSpPr/>
          <p:nvPr/>
        </p:nvSpPr>
        <p:spPr>
          <a:xfrm>
            <a:off x="1280160" y="1170432"/>
            <a:ext cx="10058400" cy="457200"/>
          </a:xfrm>
          <a:prstGeom prst="rect">
            <a:avLst/>
          </a:prstGeom>
          <a:noFill/>
          <a:ln/>
        </p:spPr>
        <p:txBody>
          <a:bodyPr wrap="square" rtlCol="0" anchor="ctr"/>
          <a:lstStyle/>
          <a:p>
            <a:pPr indent="0" marL="0">
              <a:buNone/>
            </a:pPr>
            <a:r>
              <a:rPr lang="en-US" sz="1500" dirty="0">
                <a:solidFill>
                  <a:srgbClr val="5A7480"/>
                </a:solidFill>
                <a:latin typeface="Calibri" pitchFamily="34" charset="0"/>
                <a:ea typeface="Calibri" pitchFamily="34" charset="-122"/>
                <a:cs typeface="Calibri" pitchFamily="34" charset="-120"/>
              </a:rPr>
              <a:t>A Canary custom resource — Flagger watches it and drives the release</a:t>
            </a:r>
            <a:endParaRPr lang="en-US" sz="1500" dirty="0"/>
          </a:p>
        </p:txBody>
      </p:sp>
      <p:sp>
        <p:nvSpPr>
          <p:cNvPr id="5" name="Shape 2"/>
          <p:cNvSpPr/>
          <p:nvPr/>
        </p:nvSpPr>
        <p:spPr>
          <a:xfrm>
            <a:off x="640080" y="1783080"/>
            <a:ext cx="7086600" cy="4617720"/>
          </a:xfrm>
          <a:prstGeom prst="roundRect">
            <a:avLst>
              <a:gd name="adj" fmla="val 1584"/>
            </a:avLst>
          </a:prstGeom>
          <a:solidFill>
            <a:srgbClr val="0B2A30"/>
          </a:solidFill>
          <a:ln/>
          <a:effectLst>
            <a:outerShdw sx="100000" sy="100000" kx="0" ky="0" algn="bl" rotWithShape="0" blurRad="88900" dist="38100" dir="5400000">
              <a:srgbClr val="000000">
                <a:alpha val="12000"/>
              </a:srgbClr>
            </a:outerShdw>
          </a:effectLst>
        </p:spPr>
      </p:sp>
      <p:sp>
        <p:nvSpPr>
          <p:cNvPr id="6" name="Text 3"/>
          <p:cNvSpPr/>
          <p:nvPr/>
        </p:nvSpPr>
        <p:spPr>
          <a:xfrm>
            <a:off x="960120" y="1938528"/>
            <a:ext cx="3657600" cy="320040"/>
          </a:xfrm>
          <a:prstGeom prst="rect">
            <a:avLst/>
          </a:prstGeom>
          <a:noFill/>
          <a:ln/>
        </p:spPr>
        <p:txBody>
          <a:bodyPr wrap="square" rtlCol="0" anchor="ctr"/>
          <a:lstStyle/>
          <a:p>
            <a:pPr indent="0" marL="0">
              <a:buNone/>
            </a:pPr>
            <a:r>
              <a:rPr lang="en-US" sz="1100" i="1" dirty="0">
                <a:solidFill>
                  <a:srgbClr val="6E9197"/>
                </a:solidFill>
                <a:latin typeface="Courier New" pitchFamily="34" charset="0"/>
                <a:ea typeface="Courier New" pitchFamily="34" charset="-122"/>
                <a:cs typeface="Courier New" pitchFamily="34" charset="-120"/>
              </a:rPr>
              <a:t>canary.yaml</a:t>
            </a:r>
            <a:endParaRPr lang="en-US" sz="1100" dirty="0"/>
          </a:p>
        </p:txBody>
      </p:sp>
      <p:sp>
        <p:nvSpPr>
          <p:cNvPr id="7" name="Text 4"/>
          <p:cNvSpPr/>
          <p:nvPr/>
        </p:nvSpPr>
        <p:spPr>
          <a:xfrm>
            <a:off x="960120" y="2286000"/>
            <a:ext cx="6492240" cy="4023360"/>
          </a:xfrm>
          <a:prstGeom prst="rect">
            <a:avLst/>
          </a:prstGeom>
          <a:noFill/>
          <a:ln/>
        </p:spPr>
        <p:txBody>
          <a:bodyPr wrap="square" lIns="0" tIns="0" rIns="0" bIns="0" rtlCol="0" anchor="t"/>
          <a:lstStyle/>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apiVersion: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flagger.app/v1beta1</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kind: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Canary</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metadata:</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name: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podinfo</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spec:</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targetRef:</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kind: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Deployment</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name: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podinfo</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service:</a:t>
            </a:r>
            <a:pPr indent="0" marL="0">
              <a:lnSpc>
                <a:spcPct val="112000"/>
              </a:lnSpc>
              <a:buNone/>
            </a:pPr>
            <a:r>
              <a:rPr lang="en-US" sz="1150" dirty="0">
                <a:solidFill>
                  <a:srgbClr val="8FB2B6"/>
                </a:solidFill>
                <a:latin typeface="Courier New" pitchFamily="34" charset="0"/>
                <a:ea typeface="Courier New" pitchFamily="34" charset="-122"/>
                <a:cs typeface="Courier New" pitchFamily="34" charset="-120"/>
              </a:rPr>
              <a:t>  { port: 9898 }</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analysis:</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interval: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1m</a:t>
            </a:r>
            <a:pPr indent="0" marL="0">
              <a:lnSpc>
                <a:spcPct val="112000"/>
              </a:lnSpc>
              <a:buNone/>
            </a:pPr>
            <a:r>
              <a:rPr lang="en-US" sz="1150" dirty="0">
                <a:solidFill>
                  <a:srgbClr val="8FB2B6"/>
                </a:solidFill>
                <a:latin typeface="Courier New" pitchFamily="34" charset="0"/>
                <a:ea typeface="Courier New" pitchFamily="34" charset="-122"/>
                <a:cs typeface="Courier New" pitchFamily="34" charset="-120"/>
              </a:rPr>
              <a:t>        # check cadence</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stepWeight: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10</a:t>
            </a:r>
            <a:pPr indent="0" marL="0">
              <a:lnSpc>
                <a:spcPct val="112000"/>
              </a:lnSpc>
              <a:buNone/>
            </a:pPr>
            <a:r>
              <a:rPr lang="en-US" sz="1150" dirty="0">
                <a:solidFill>
                  <a:srgbClr val="8FB2B6"/>
                </a:solidFill>
                <a:latin typeface="Courier New" pitchFamily="34" charset="0"/>
                <a:ea typeface="Courier New" pitchFamily="34" charset="-122"/>
                <a:cs typeface="Courier New" pitchFamily="34" charset="-120"/>
              </a:rPr>
              <a:t>       # +10% traffic / step</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maxWeight: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50</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threshold: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5</a:t>
            </a:r>
            <a:pPr indent="0" marL="0">
              <a:lnSpc>
                <a:spcPct val="112000"/>
              </a:lnSpc>
              <a:buNone/>
            </a:pPr>
            <a:r>
              <a:rPr lang="en-US" sz="1150" dirty="0">
                <a:solidFill>
                  <a:srgbClr val="8FB2B6"/>
                </a:solidFill>
                <a:latin typeface="Courier New" pitchFamily="34" charset="0"/>
                <a:ea typeface="Courier New" pitchFamily="34" charset="-122"/>
                <a:cs typeface="Courier New" pitchFamily="34" charset="-120"/>
              </a:rPr>
              <a:t>        # fails before rollback</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metrics:</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 name: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request-success-rate</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thresholdRange: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 min: 99 }</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 name: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request-duration</a:t>
            </a:r>
            <a:endParaRPr lang="en-US" sz="1150" dirty="0"/>
          </a:p>
          <a:p>
            <a:pPr indent="0" marL="0">
              <a:lnSpc>
                <a:spcPct val="112000"/>
              </a:lnSpc>
              <a:buNone/>
            </a:pPr>
            <a:r>
              <a:rPr lang="en-US" sz="1150" dirty="0">
                <a:solidFill>
                  <a:srgbClr val="5FD3BF"/>
                </a:solidFill>
                <a:latin typeface="Courier New" pitchFamily="34" charset="0"/>
                <a:ea typeface="Courier New" pitchFamily="34" charset="-122"/>
                <a:cs typeface="Courier New" pitchFamily="34" charset="-120"/>
              </a:rPr>
              <a:t>      thresholdRange: </a:t>
            </a:r>
            <a:pPr indent="0" marL="0">
              <a:lnSpc>
                <a:spcPct val="112000"/>
              </a:lnSpc>
              <a:buNone/>
            </a:pPr>
            <a:r>
              <a:rPr lang="en-US" sz="1150" dirty="0">
                <a:solidFill>
                  <a:srgbClr val="E6F0F0"/>
                </a:solidFill>
                <a:latin typeface="Courier New" pitchFamily="34" charset="0"/>
                <a:ea typeface="Courier New" pitchFamily="34" charset="-122"/>
                <a:cs typeface="Courier New" pitchFamily="34" charset="-120"/>
              </a:rPr>
              <a:t>{ max: 500 }</a:t>
            </a:r>
            <a:endParaRPr lang="en-US" sz="1150" dirty="0"/>
          </a:p>
        </p:txBody>
      </p:sp>
      <p:sp>
        <p:nvSpPr>
          <p:cNvPr id="8" name="Text 5"/>
          <p:cNvSpPr/>
          <p:nvPr/>
        </p:nvSpPr>
        <p:spPr>
          <a:xfrm>
            <a:off x="8092440" y="1920240"/>
            <a:ext cx="3474720" cy="365760"/>
          </a:xfrm>
          <a:prstGeom prst="rect">
            <a:avLst/>
          </a:prstGeom>
          <a:noFill/>
          <a:ln/>
        </p:spPr>
        <p:txBody>
          <a:bodyPr wrap="square" rtlCol="0" anchor="ctr"/>
          <a:lstStyle/>
          <a:p>
            <a:pPr indent="0" marL="0">
              <a:buNone/>
            </a:pPr>
            <a:r>
              <a:rPr lang="en-US" sz="1400" b="1" dirty="0">
                <a:solidFill>
                  <a:srgbClr val="028090"/>
                </a:solidFill>
                <a:latin typeface="Arial" pitchFamily="34" charset="0"/>
                <a:ea typeface="Arial" pitchFamily="34" charset="-122"/>
                <a:cs typeface="Arial" pitchFamily="34" charset="-120"/>
              </a:rPr>
              <a:t>Reads as:</a:t>
            </a:r>
            <a:endParaRPr lang="en-US" sz="1400" dirty="0"/>
          </a:p>
        </p:txBody>
      </p:sp>
      <p:pic>
        <p:nvPicPr>
          <p:cNvPr id="9" name="Image 1" descr="preencoded.png">    </p:cNvPr>
          <p:cNvPicPr>
            <a:picLocks noChangeAspect="1"/>
          </p:cNvPicPr>
          <p:nvPr/>
        </p:nvPicPr>
        <p:blipFill>
          <a:blip r:embed="rId2"/>
          <a:stretch>
            <a:fillRect/>
          </a:stretch>
        </p:blipFill>
        <p:spPr>
          <a:xfrm>
            <a:off x="8092440" y="2478024"/>
            <a:ext cx="237744" cy="237744"/>
          </a:xfrm>
          <a:prstGeom prst="rect">
            <a:avLst/>
          </a:prstGeom>
        </p:spPr>
      </p:pic>
      <p:sp>
        <p:nvSpPr>
          <p:cNvPr id="10" name="Text 6"/>
          <p:cNvSpPr/>
          <p:nvPr/>
        </p:nvSpPr>
        <p:spPr>
          <a:xfrm>
            <a:off x="8458200" y="2404872"/>
            <a:ext cx="3108960" cy="868680"/>
          </a:xfrm>
          <a:prstGeom prst="rect">
            <a:avLst/>
          </a:prstGeom>
          <a:noFill/>
          <a:ln/>
        </p:spPr>
        <p:txBody>
          <a:bodyPr wrap="square" rtlCol="0" anchor="t"/>
          <a:lstStyle/>
          <a:p>
            <a:pPr indent="0" marL="0">
              <a:buNone/>
            </a:pPr>
            <a:r>
              <a:rPr lang="en-US" sz="1300" b="1" dirty="0">
                <a:solidFill>
                  <a:srgbClr val="13343B"/>
                </a:solidFill>
                <a:latin typeface="Calibri" pitchFamily="34" charset="0"/>
                <a:ea typeface="Calibri" pitchFamily="34" charset="-122"/>
                <a:cs typeface="Calibri" pitchFamily="34" charset="-120"/>
              </a:rPr>
              <a:t>targetRef</a:t>
            </a:r>
            <a:endParaRPr lang="en-US" sz="1300" dirty="0"/>
          </a:p>
          <a:p>
            <a:pPr indent="0" marL="0">
              <a:buNone/>
            </a:pPr>
            <a:r>
              <a:rPr lang="en-US" sz="1300" dirty="0">
                <a:solidFill>
                  <a:srgbClr val="5A7480"/>
                </a:solidFill>
                <a:latin typeface="Calibri" pitchFamily="34" charset="0"/>
                <a:ea typeface="Calibri" pitchFamily="34" charset="-122"/>
                <a:cs typeface="Calibri" pitchFamily="34" charset="-120"/>
              </a:rPr>
              <a:t>the Deployment Flagger manages</a:t>
            </a:r>
            <a:endParaRPr lang="en-US" sz="1300" dirty="0"/>
          </a:p>
        </p:txBody>
      </p:sp>
      <p:pic>
        <p:nvPicPr>
          <p:cNvPr id="11" name="Image 2" descr="preencoded.png">    </p:cNvPr>
          <p:cNvPicPr>
            <a:picLocks noChangeAspect="1"/>
          </p:cNvPicPr>
          <p:nvPr/>
        </p:nvPicPr>
        <p:blipFill>
          <a:blip r:embed="rId3"/>
          <a:stretch>
            <a:fillRect/>
          </a:stretch>
        </p:blipFill>
        <p:spPr>
          <a:xfrm>
            <a:off x="8092440" y="3438144"/>
            <a:ext cx="237744" cy="237744"/>
          </a:xfrm>
          <a:prstGeom prst="rect">
            <a:avLst/>
          </a:prstGeom>
        </p:spPr>
      </p:pic>
      <p:sp>
        <p:nvSpPr>
          <p:cNvPr id="12" name="Text 7"/>
          <p:cNvSpPr/>
          <p:nvPr/>
        </p:nvSpPr>
        <p:spPr>
          <a:xfrm>
            <a:off x="8458200" y="3364992"/>
            <a:ext cx="3108960" cy="868680"/>
          </a:xfrm>
          <a:prstGeom prst="rect">
            <a:avLst/>
          </a:prstGeom>
          <a:noFill/>
          <a:ln/>
        </p:spPr>
        <p:txBody>
          <a:bodyPr wrap="square" rtlCol="0" anchor="t"/>
          <a:lstStyle/>
          <a:p>
            <a:pPr indent="0" marL="0">
              <a:buNone/>
            </a:pPr>
            <a:r>
              <a:rPr lang="en-US" sz="1300" b="1" dirty="0">
                <a:solidFill>
                  <a:srgbClr val="13343B"/>
                </a:solidFill>
                <a:latin typeface="Calibri" pitchFamily="34" charset="0"/>
                <a:ea typeface="Calibri" pitchFamily="34" charset="-122"/>
                <a:cs typeface="Calibri" pitchFamily="34" charset="-120"/>
              </a:rPr>
              <a:t>stepWeight / maxWeight</a:t>
            </a:r>
            <a:endParaRPr lang="en-US" sz="1300" dirty="0"/>
          </a:p>
          <a:p>
            <a:pPr indent="0" marL="0">
              <a:buNone/>
            </a:pPr>
            <a:r>
              <a:rPr lang="en-US" sz="1300" dirty="0">
                <a:solidFill>
                  <a:srgbClr val="5A7480"/>
                </a:solidFill>
                <a:latin typeface="Calibri" pitchFamily="34" charset="0"/>
                <a:ea typeface="Calibri" pitchFamily="34" charset="-122"/>
                <a:cs typeface="Calibri" pitchFamily="34" charset="-120"/>
              </a:rPr>
              <a:t>shift traffic 10% -&gt; up to 50%</a:t>
            </a:r>
            <a:endParaRPr lang="en-US" sz="1300" dirty="0"/>
          </a:p>
        </p:txBody>
      </p:sp>
      <p:pic>
        <p:nvPicPr>
          <p:cNvPr id="13" name="Image 3" descr="preencoded.png">    </p:cNvPr>
          <p:cNvPicPr>
            <a:picLocks noChangeAspect="1"/>
          </p:cNvPicPr>
          <p:nvPr/>
        </p:nvPicPr>
        <p:blipFill>
          <a:blip r:embed="rId4"/>
          <a:stretch>
            <a:fillRect/>
          </a:stretch>
        </p:blipFill>
        <p:spPr>
          <a:xfrm>
            <a:off x="8092440" y="4398264"/>
            <a:ext cx="237744" cy="237744"/>
          </a:xfrm>
          <a:prstGeom prst="rect">
            <a:avLst/>
          </a:prstGeom>
        </p:spPr>
      </p:pic>
      <p:sp>
        <p:nvSpPr>
          <p:cNvPr id="14" name="Text 8"/>
          <p:cNvSpPr/>
          <p:nvPr/>
        </p:nvSpPr>
        <p:spPr>
          <a:xfrm>
            <a:off x="8458200" y="4325112"/>
            <a:ext cx="3108960" cy="868680"/>
          </a:xfrm>
          <a:prstGeom prst="rect">
            <a:avLst/>
          </a:prstGeom>
          <a:noFill/>
          <a:ln/>
        </p:spPr>
        <p:txBody>
          <a:bodyPr wrap="square" rtlCol="0" anchor="t"/>
          <a:lstStyle/>
          <a:p>
            <a:pPr indent="0" marL="0">
              <a:buNone/>
            </a:pPr>
            <a:r>
              <a:rPr lang="en-US" sz="1300" b="1" dirty="0">
                <a:solidFill>
                  <a:srgbClr val="13343B"/>
                </a:solidFill>
                <a:latin typeface="Calibri" pitchFamily="34" charset="0"/>
                <a:ea typeface="Calibri" pitchFamily="34" charset="-122"/>
                <a:cs typeface="Calibri" pitchFamily="34" charset="-120"/>
              </a:rPr>
              <a:t>metrics</a:t>
            </a:r>
            <a:endParaRPr lang="en-US" sz="1300" dirty="0"/>
          </a:p>
          <a:p>
            <a:pPr indent="0" marL="0">
              <a:buNone/>
            </a:pPr>
            <a:r>
              <a:rPr lang="en-US" sz="1300" dirty="0">
                <a:solidFill>
                  <a:srgbClr val="5A7480"/>
                </a:solidFill>
                <a:latin typeface="Calibri" pitchFamily="34" charset="0"/>
                <a:ea typeface="Calibri" pitchFamily="34" charset="-122"/>
                <a:cs typeface="Calibri" pitchFamily="34" charset="-120"/>
              </a:rPr>
              <a:t>success &gt;= 99%, latency &lt;= 500ms</a:t>
            </a:r>
            <a:endParaRPr lang="en-US" sz="1300" dirty="0"/>
          </a:p>
        </p:txBody>
      </p:sp>
      <p:pic>
        <p:nvPicPr>
          <p:cNvPr id="15" name="Image 4" descr="preencoded.png">    </p:cNvPr>
          <p:cNvPicPr>
            <a:picLocks noChangeAspect="1"/>
          </p:cNvPicPr>
          <p:nvPr/>
        </p:nvPicPr>
        <p:blipFill>
          <a:blip r:embed="rId5"/>
          <a:stretch>
            <a:fillRect/>
          </a:stretch>
        </p:blipFill>
        <p:spPr>
          <a:xfrm>
            <a:off x="8092440" y="5358384"/>
            <a:ext cx="237744" cy="237744"/>
          </a:xfrm>
          <a:prstGeom prst="rect">
            <a:avLst/>
          </a:prstGeom>
        </p:spPr>
      </p:pic>
      <p:sp>
        <p:nvSpPr>
          <p:cNvPr id="16" name="Text 9"/>
          <p:cNvSpPr/>
          <p:nvPr/>
        </p:nvSpPr>
        <p:spPr>
          <a:xfrm>
            <a:off x="8458200" y="5285232"/>
            <a:ext cx="3108960" cy="868680"/>
          </a:xfrm>
          <a:prstGeom prst="rect">
            <a:avLst/>
          </a:prstGeom>
          <a:noFill/>
          <a:ln/>
        </p:spPr>
        <p:txBody>
          <a:bodyPr wrap="square" rtlCol="0" anchor="t"/>
          <a:lstStyle/>
          <a:p>
            <a:pPr indent="0" marL="0">
              <a:buNone/>
            </a:pPr>
            <a:r>
              <a:rPr lang="en-US" sz="1300" b="1" dirty="0">
                <a:solidFill>
                  <a:srgbClr val="13343B"/>
                </a:solidFill>
                <a:latin typeface="Calibri" pitchFamily="34" charset="0"/>
                <a:ea typeface="Calibri" pitchFamily="34" charset="-122"/>
                <a:cs typeface="Calibri" pitchFamily="34" charset="-120"/>
              </a:rPr>
              <a:t>threshold</a:t>
            </a:r>
            <a:endParaRPr lang="en-US" sz="1300" dirty="0"/>
          </a:p>
          <a:p>
            <a:pPr indent="0" marL="0">
              <a:buNone/>
            </a:pPr>
            <a:r>
              <a:rPr lang="en-US" sz="1300" dirty="0">
                <a:solidFill>
                  <a:srgbClr val="5A7480"/>
                </a:solidFill>
                <a:latin typeface="Calibri" pitchFamily="34" charset="0"/>
                <a:ea typeface="Calibri" pitchFamily="34" charset="-122"/>
                <a:cs typeface="Calibri" pitchFamily="34" charset="-120"/>
              </a:rPr>
              <a:t>5 failed checks -&gt; auto rollback</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40080" y="548640"/>
            <a:ext cx="548640" cy="548640"/>
          </a:xfrm>
          <a:prstGeom prst="rect">
            <a:avLst/>
          </a:prstGeom>
        </p:spPr>
      </p:pic>
      <p:sp>
        <p:nvSpPr>
          <p:cNvPr id="3" name="Text 0"/>
          <p:cNvSpPr/>
          <p:nvPr/>
        </p:nvSpPr>
        <p:spPr>
          <a:xfrm>
            <a:off x="1325880" y="566928"/>
            <a:ext cx="9144000" cy="640080"/>
          </a:xfrm>
          <a:prstGeom prst="rect">
            <a:avLst/>
          </a:prstGeom>
          <a:noFill/>
          <a:ln/>
        </p:spPr>
        <p:txBody>
          <a:bodyPr wrap="square" rtlCol="0" anchor="ctr"/>
          <a:lstStyle/>
          <a:p>
            <a:pPr indent="0" marL="0">
              <a:buNone/>
            </a:pPr>
            <a:r>
              <a:rPr lang="en-US" sz="3200" b="1" dirty="0">
                <a:solidFill>
                  <a:srgbClr val="13343B"/>
                </a:solidFill>
                <a:latin typeface="Arial" pitchFamily="34" charset="0"/>
                <a:ea typeface="Arial" pitchFamily="34" charset="-122"/>
                <a:cs typeface="Arial" pitchFamily="34" charset="-120"/>
              </a:rPr>
              <a:t>Pros &amp; cons</a:t>
            </a:r>
            <a:endParaRPr lang="en-US" sz="3200" dirty="0"/>
          </a:p>
        </p:txBody>
      </p:sp>
      <p:sp>
        <p:nvSpPr>
          <p:cNvPr id="4" name="Text 1"/>
          <p:cNvSpPr/>
          <p:nvPr/>
        </p:nvSpPr>
        <p:spPr>
          <a:xfrm>
            <a:off x="1325880" y="1207008"/>
            <a:ext cx="10058400" cy="457200"/>
          </a:xfrm>
          <a:prstGeom prst="rect">
            <a:avLst/>
          </a:prstGeom>
          <a:noFill/>
          <a:ln/>
        </p:spPr>
        <p:txBody>
          <a:bodyPr wrap="square" rtlCol="0" anchor="ctr"/>
          <a:lstStyle/>
          <a:p>
            <a:pPr indent="0" marL="0">
              <a:buNone/>
            </a:pPr>
            <a:r>
              <a:rPr lang="en-US" sz="1600" dirty="0">
                <a:solidFill>
                  <a:srgbClr val="5A7480"/>
                </a:solidFill>
                <a:latin typeface="Calibri" pitchFamily="34" charset="0"/>
                <a:ea typeface="Calibri" pitchFamily="34" charset="-122"/>
                <a:cs typeface="Calibri" pitchFamily="34" charset="-120"/>
              </a:rPr>
              <a:t>Worth adopting — with some infrastructure to maintain</a:t>
            </a:r>
            <a:endParaRPr lang="en-US" sz="1600" dirty="0"/>
          </a:p>
        </p:txBody>
      </p:sp>
      <p:sp>
        <p:nvSpPr>
          <p:cNvPr id="5" name="Shape 2"/>
          <p:cNvSpPr/>
          <p:nvPr/>
        </p:nvSpPr>
        <p:spPr>
          <a:xfrm>
            <a:off x="640080" y="1920240"/>
            <a:ext cx="5349240" cy="4160520"/>
          </a:xfrm>
          <a:prstGeom prst="roundRect">
            <a:avLst>
              <a:gd name="adj" fmla="val 2198"/>
            </a:avLst>
          </a:prstGeom>
          <a:solidFill>
            <a:srgbClr val="EAF6F2"/>
          </a:solidFill>
          <a:ln/>
          <a:effectLst>
            <a:outerShdw sx="100000" sy="100000" kx="0" ky="0" algn="bl" rotWithShape="0" blurRad="88900" dist="38100" dir="5400000">
              <a:srgbClr val="000000">
                <a:alpha val="12000"/>
              </a:srgbClr>
            </a:outerShdw>
          </a:effectLst>
        </p:spPr>
      </p:sp>
      <p:pic>
        <p:nvPicPr>
          <p:cNvPr id="6" name="Image 1" descr="preencoded.png">    </p:cNvPr>
          <p:cNvPicPr>
            <a:picLocks noChangeAspect="1"/>
          </p:cNvPicPr>
          <p:nvPr/>
        </p:nvPicPr>
        <p:blipFill>
          <a:blip r:embed="rId2"/>
          <a:stretch>
            <a:fillRect/>
          </a:stretch>
        </p:blipFill>
        <p:spPr>
          <a:xfrm>
            <a:off x="960120" y="2240280"/>
            <a:ext cx="457200" cy="457200"/>
          </a:xfrm>
          <a:prstGeom prst="rect">
            <a:avLst/>
          </a:prstGeom>
        </p:spPr>
      </p:pic>
      <p:sp>
        <p:nvSpPr>
          <p:cNvPr id="7" name="Text 3"/>
          <p:cNvSpPr/>
          <p:nvPr/>
        </p:nvSpPr>
        <p:spPr>
          <a:xfrm>
            <a:off x="1554480" y="2258568"/>
            <a:ext cx="3657600" cy="457200"/>
          </a:xfrm>
          <a:prstGeom prst="rect">
            <a:avLst/>
          </a:prstGeom>
          <a:noFill/>
          <a:ln/>
        </p:spPr>
        <p:txBody>
          <a:bodyPr wrap="square" rtlCol="0" anchor="ctr"/>
          <a:lstStyle/>
          <a:p>
            <a:pPr indent="0" marL="0">
              <a:buNone/>
            </a:pPr>
            <a:r>
              <a:rPr lang="en-US" sz="2100" b="1" dirty="0">
                <a:solidFill>
                  <a:srgbClr val="028090"/>
                </a:solidFill>
                <a:latin typeface="Arial" pitchFamily="34" charset="0"/>
                <a:ea typeface="Arial" pitchFamily="34" charset="-122"/>
                <a:cs typeface="Arial" pitchFamily="34" charset="-120"/>
              </a:rPr>
              <a:t>Pros</a:t>
            </a:r>
            <a:endParaRPr lang="en-US" sz="2100" dirty="0"/>
          </a:p>
        </p:txBody>
      </p:sp>
      <p:pic>
        <p:nvPicPr>
          <p:cNvPr id="8" name="Image 2" descr="preencoded.png">    </p:cNvPr>
          <p:cNvPicPr>
            <a:picLocks noChangeAspect="1"/>
          </p:cNvPicPr>
          <p:nvPr/>
        </p:nvPicPr>
        <p:blipFill>
          <a:blip r:embed="rId3"/>
          <a:stretch>
            <a:fillRect/>
          </a:stretch>
        </p:blipFill>
        <p:spPr>
          <a:xfrm>
            <a:off x="960120" y="3017520"/>
            <a:ext cx="274320" cy="274320"/>
          </a:xfrm>
          <a:prstGeom prst="rect">
            <a:avLst/>
          </a:prstGeom>
        </p:spPr>
      </p:pic>
      <p:sp>
        <p:nvSpPr>
          <p:cNvPr id="9" name="Text 4"/>
          <p:cNvSpPr/>
          <p:nvPr/>
        </p:nvSpPr>
        <p:spPr>
          <a:xfrm>
            <a:off x="1371600" y="2944368"/>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Smaller blast radius  </a:t>
            </a:r>
            <a:pPr indent="0" marL="0">
              <a:buNone/>
            </a:pPr>
            <a:r>
              <a:rPr lang="en-US" sz="1350" dirty="0">
                <a:solidFill>
                  <a:srgbClr val="5A7480"/>
                </a:solidFill>
                <a:latin typeface="Calibri" pitchFamily="34" charset="0"/>
                <a:ea typeface="Calibri" pitchFamily="34" charset="-122"/>
                <a:cs typeface="Calibri" pitchFamily="34" charset="-120"/>
              </a:rPr>
              <a:t>— only a fraction of traffic sees a bad build</a:t>
            </a:r>
            <a:endParaRPr lang="en-US" sz="1350" dirty="0"/>
          </a:p>
        </p:txBody>
      </p:sp>
      <p:pic>
        <p:nvPicPr>
          <p:cNvPr id="10" name="Image 3" descr="preencoded.png">    </p:cNvPr>
          <p:cNvPicPr>
            <a:picLocks noChangeAspect="1"/>
          </p:cNvPicPr>
          <p:nvPr/>
        </p:nvPicPr>
        <p:blipFill>
          <a:blip r:embed="rId4"/>
          <a:stretch>
            <a:fillRect/>
          </a:stretch>
        </p:blipFill>
        <p:spPr>
          <a:xfrm>
            <a:off x="960120" y="3767328"/>
            <a:ext cx="274320" cy="274320"/>
          </a:xfrm>
          <a:prstGeom prst="rect">
            <a:avLst/>
          </a:prstGeom>
        </p:spPr>
      </p:pic>
      <p:sp>
        <p:nvSpPr>
          <p:cNvPr id="11" name="Text 5"/>
          <p:cNvSpPr/>
          <p:nvPr/>
        </p:nvSpPr>
        <p:spPr>
          <a:xfrm>
            <a:off x="1371600" y="3694176"/>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Automated promote &amp; rollback  </a:t>
            </a:r>
            <a:pPr indent="0" marL="0">
              <a:buNone/>
            </a:pPr>
            <a:r>
              <a:rPr lang="en-US" sz="1350" dirty="0">
                <a:solidFill>
                  <a:srgbClr val="5A7480"/>
                </a:solidFill>
                <a:latin typeface="Calibri" pitchFamily="34" charset="0"/>
                <a:ea typeface="Calibri" pitchFamily="34" charset="-122"/>
                <a:cs typeface="Calibri" pitchFamily="34" charset="-120"/>
              </a:rPr>
              <a:t>— no human in the loop, consistent at 3am</a:t>
            </a:r>
            <a:endParaRPr lang="en-US" sz="1350" dirty="0"/>
          </a:p>
        </p:txBody>
      </p:sp>
      <p:pic>
        <p:nvPicPr>
          <p:cNvPr id="12" name="Image 4" descr="preencoded.png">    </p:cNvPr>
          <p:cNvPicPr>
            <a:picLocks noChangeAspect="1"/>
          </p:cNvPicPr>
          <p:nvPr/>
        </p:nvPicPr>
        <p:blipFill>
          <a:blip r:embed="rId5"/>
          <a:stretch>
            <a:fillRect/>
          </a:stretch>
        </p:blipFill>
        <p:spPr>
          <a:xfrm>
            <a:off x="960120" y="4517136"/>
            <a:ext cx="274320" cy="274320"/>
          </a:xfrm>
          <a:prstGeom prst="rect">
            <a:avLst/>
          </a:prstGeom>
        </p:spPr>
      </p:pic>
      <p:sp>
        <p:nvSpPr>
          <p:cNvPr id="13" name="Text 6"/>
          <p:cNvSpPr/>
          <p:nvPr/>
        </p:nvSpPr>
        <p:spPr>
          <a:xfrm>
            <a:off x="1371600" y="4443984"/>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Metric-driven gates  </a:t>
            </a:r>
            <a:pPr indent="0" marL="0">
              <a:buNone/>
            </a:pPr>
            <a:r>
              <a:rPr lang="en-US" sz="1350" dirty="0">
                <a:solidFill>
                  <a:srgbClr val="5A7480"/>
                </a:solidFill>
                <a:latin typeface="Calibri" pitchFamily="34" charset="0"/>
                <a:ea typeface="Calibri" pitchFamily="34" charset="-122"/>
                <a:cs typeface="Calibri" pitchFamily="34" charset="-120"/>
              </a:rPr>
              <a:t>— releases pass only if SLOs hold</a:t>
            </a:r>
            <a:endParaRPr lang="en-US" sz="1350" dirty="0"/>
          </a:p>
        </p:txBody>
      </p:sp>
      <p:pic>
        <p:nvPicPr>
          <p:cNvPr id="14" name="Image 5" descr="preencoded.png">    </p:cNvPr>
          <p:cNvPicPr>
            <a:picLocks noChangeAspect="1"/>
          </p:cNvPicPr>
          <p:nvPr/>
        </p:nvPicPr>
        <p:blipFill>
          <a:blip r:embed="rId6"/>
          <a:stretch>
            <a:fillRect/>
          </a:stretch>
        </p:blipFill>
        <p:spPr>
          <a:xfrm>
            <a:off x="960120" y="5266944"/>
            <a:ext cx="274320" cy="274320"/>
          </a:xfrm>
          <a:prstGeom prst="rect">
            <a:avLst/>
          </a:prstGeom>
        </p:spPr>
      </p:pic>
      <p:sp>
        <p:nvSpPr>
          <p:cNvPr id="15" name="Text 7"/>
          <p:cNvSpPr/>
          <p:nvPr/>
        </p:nvSpPr>
        <p:spPr>
          <a:xfrm>
            <a:off x="1371600" y="5193792"/>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Declarative &amp; GitOps-friendly  </a:t>
            </a:r>
            <a:pPr indent="0" marL="0">
              <a:buNone/>
            </a:pPr>
            <a:r>
              <a:rPr lang="en-US" sz="1350" dirty="0">
                <a:solidFill>
                  <a:srgbClr val="5A7480"/>
                </a:solidFill>
                <a:latin typeface="Calibri" pitchFamily="34" charset="0"/>
                <a:ea typeface="Calibri" pitchFamily="34" charset="-122"/>
                <a:cs typeface="Calibri" pitchFamily="34" charset="-120"/>
              </a:rPr>
              <a:t>— Canary specs live in Git, applied as code</a:t>
            </a:r>
            <a:endParaRPr lang="en-US" sz="1350" dirty="0"/>
          </a:p>
        </p:txBody>
      </p:sp>
      <p:sp>
        <p:nvSpPr>
          <p:cNvPr id="16" name="Shape 8"/>
          <p:cNvSpPr/>
          <p:nvPr/>
        </p:nvSpPr>
        <p:spPr>
          <a:xfrm>
            <a:off x="6172200" y="1920240"/>
            <a:ext cx="5349240" cy="4160520"/>
          </a:xfrm>
          <a:prstGeom prst="roundRect">
            <a:avLst>
              <a:gd name="adj" fmla="val 2198"/>
            </a:avLst>
          </a:prstGeom>
          <a:solidFill>
            <a:srgbClr val="FBF1E3"/>
          </a:solidFill>
          <a:ln/>
          <a:effectLst>
            <a:outerShdw sx="100000" sy="100000" kx="0" ky="0" algn="bl" rotWithShape="0" blurRad="88900" dist="38100" dir="5400000">
              <a:srgbClr val="000000">
                <a:alpha val="12000"/>
              </a:srgbClr>
            </a:outerShdw>
          </a:effectLst>
        </p:spPr>
      </p:sp>
      <p:pic>
        <p:nvPicPr>
          <p:cNvPr id="17" name="Image 6" descr="preencoded.png">    </p:cNvPr>
          <p:cNvPicPr>
            <a:picLocks noChangeAspect="1"/>
          </p:cNvPicPr>
          <p:nvPr/>
        </p:nvPicPr>
        <p:blipFill>
          <a:blip r:embed="rId7"/>
          <a:stretch>
            <a:fillRect/>
          </a:stretch>
        </p:blipFill>
        <p:spPr>
          <a:xfrm>
            <a:off x="6492240" y="2240280"/>
            <a:ext cx="457200" cy="457200"/>
          </a:xfrm>
          <a:prstGeom prst="rect">
            <a:avLst/>
          </a:prstGeom>
        </p:spPr>
      </p:pic>
      <p:sp>
        <p:nvSpPr>
          <p:cNvPr id="18" name="Text 9"/>
          <p:cNvSpPr/>
          <p:nvPr/>
        </p:nvSpPr>
        <p:spPr>
          <a:xfrm>
            <a:off x="7086600" y="2258568"/>
            <a:ext cx="3657600" cy="457200"/>
          </a:xfrm>
          <a:prstGeom prst="rect">
            <a:avLst/>
          </a:prstGeom>
          <a:noFill/>
          <a:ln/>
        </p:spPr>
        <p:txBody>
          <a:bodyPr wrap="square" rtlCol="0" anchor="ctr"/>
          <a:lstStyle/>
          <a:p>
            <a:pPr indent="0" marL="0">
              <a:buNone/>
            </a:pPr>
            <a:r>
              <a:rPr lang="en-US" sz="2100" b="1" dirty="0">
                <a:solidFill>
                  <a:srgbClr val="B5791F"/>
                </a:solidFill>
                <a:latin typeface="Arial" pitchFamily="34" charset="0"/>
                <a:ea typeface="Arial" pitchFamily="34" charset="-122"/>
                <a:cs typeface="Arial" pitchFamily="34" charset="-120"/>
              </a:rPr>
              <a:t>Cons</a:t>
            </a:r>
            <a:endParaRPr lang="en-US" sz="2100" dirty="0"/>
          </a:p>
        </p:txBody>
      </p:sp>
      <p:pic>
        <p:nvPicPr>
          <p:cNvPr id="19" name="Image 7" descr="preencoded.png">    </p:cNvPr>
          <p:cNvPicPr>
            <a:picLocks noChangeAspect="1"/>
          </p:cNvPicPr>
          <p:nvPr/>
        </p:nvPicPr>
        <p:blipFill>
          <a:blip r:embed="rId8"/>
          <a:stretch>
            <a:fillRect/>
          </a:stretch>
        </p:blipFill>
        <p:spPr>
          <a:xfrm>
            <a:off x="6492240" y="3017520"/>
            <a:ext cx="274320" cy="274320"/>
          </a:xfrm>
          <a:prstGeom prst="rect">
            <a:avLst/>
          </a:prstGeom>
        </p:spPr>
      </p:pic>
      <p:sp>
        <p:nvSpPr>
          <p:cNvPr id="20" name="Text 10"/>
          <p:cNvSpPr/>
          <p:nvPr/>
        </p:nvSpPr>
        <p:spPr>
          <a:xfrm>
            <a:off x="6903720" y="2944368"/>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Needs a mesh or ingress  </a:t>
            </a:r>
            <a:pPr indent="0" marL="0">
              <a:buNone/>
            </a:pPr>
            <a:r>
              <a:rPr lang="en-US" sz="1350" dirty="0">
                <a:solidFill>
                  <a:srgbClr val="5A7480"/>
                </a:solidFill>
                <a:latin typeface="Calibri" pitchFamily="34" charset="0"/>
                <a:ea typeface="Calibri" pitchFamily="34" charset="-122"/>
                <a:cs typeface="Calibri" pitchFamily="34" charset="-120"/>
              </a:rPr>
              <a:t>— extra infra: Istio, Linkerd, NGINX…</a:t>
            </a:r>
            <a:endParaRPr lang="en-US" sz="1350" dirty="0"/>
          </a:p>
        </p:txBody>
      </p:sp>
      <p:pic>
        <p:nvPicPr>
          <p:cNvPr id="21" name="Image 8" descr="preencoded.png">    </p:cNvPr>
          <p:cNvPicPr>
            <a:picLocks noChangeAspect="1"/>
          </p:cNvPicPr>
          <p:nvPr/>
        </p:nvPicPr>
        <p:blipFill>
          <a:blip r:embed="rId9"/>
          <a:stretch>
            <a:fillRect/>
          </a:stretch>
        </p:blipFill>
        <p:spPr>
          <a:xfrm>
            <a:off x="6492240" y="3767328"/>
            <a:ext cx="274320" cy="274320"/>
          </a:xfrm>
          <a:prstGeom prst="rect">
            <a:avLst/>
          </a:prstGeom>
        </p:spPr>
      </p:pic>
      <p:sp>
        <p:nvSpPr>
          <p:cNvPr id="22" name="Text 11"/>
          <p:cNvSpPr/>
          <p:nvPr/>
        </p:nvSpPr>
        <p:spPr>
          <a:xfrm>
            <a:off x="6903720" y="3694176"/>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Depends on a metrics stack  </a:t>
            </a:r>
            <a:pPr indent="0" marL="0">
              <a:buNone/>
            </a:pPr>
            <a:r>
              <a:rPr lang="en-US" sz="1350" dirty="0">
                <a:solidFill>
                  <a:srgbClr val="5A7480"/>
                </a:solidFill>
                <a:latin typeface="Calibri" pitchFamily="34" charset="0"/>
                <a:ea typeface="Calibri" pitchFamily="34" charset="-122"/>
                <a:cs typeface="Calibri" pitchFamily="34" charset="-120"/>
              </a:rPr>
              <a:t>— Prometheus/Datadog must be wired up</a:t>
            </a:r>
            <a:endParaRPr lang="en-US" sz="1350" dirty="0"/>
          </a:p>
        </p:txBody>
      </p:sp>
      <p:pic>
        <p:nvPicPr>
          <p:cNvPr id="23" name="Image 9" descr="preencoded.png">    </p:cNvPr>
          <p:cNvPicPr>
            <a:picLocks noChangeAspect="1"/>
          </p:cNvPicPr>
          <p:nvPr/>
        </p:nvPicPr>
        <p:blipFill>
          <a:blip r:embed="rId10"/>
          <a:stretch>
            <a:fillRect/>
          </a:stretch>
        </p:blipFill>
        <p:spPr>
          <a:xfrm>
            <a:off x="6492240" y="4517136"/>
            <a:ext cx="274320" cy="274320"/>
          </a:xfrm>
          <a:prstGeom prst="rect">
            <a:avLst/>
          </a:prstGeom>
        </p:spPr>
      </p:pic>
      <p:sp>
        <p:nvSpPr>
          <p:cNvPr id="24" name="Text 12"/>
          <p:cNvSpPr/>
          <p:nvPr/>
        </p:nvSpPr>
        <p:spPr>
          <a:xfrm>
            <a:off x="6903720" y="4443984"/>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Tuning learning curve  </a:t>
            </a:r>
            <a:pPr indent="0" marL="0">
              <a:buNone/>
            </a:pPr>
            <a:r>
              <a:rPr lang="en-US" sz="1350" dirty="0">
                <a:solidFill>
                  <a:srgbClr val="5A7480"/>
                </a:solidFill>
                <a:latin typeface="Calibri" pitchFamily="34" charset="0"/>
                <a:ea typeface="Calibri" pitchFamily="34" charset="-122"/>
                <a:cs typeface="Calibri" pitchFamily="34" charset="-120"/>
              </a:rPr>
              <a:t>— thresholds &amp; analysis take time to get right</a:t>
            </a:r>
            <a:endParaRPr lang="en-US" sz="1350" dirty="0"/>
          </a:p>
        </p:txBody>
      </p:sp>
      <p:pic>
        <p:nvPicPr>
          <p:cNvPr id="25" name="Image 10" descr="preencoded.png">    </p:cNvPr>
          <p:cNvPicPr>
            <a:picLocks noChangeAspect="1"/>
          </p:cNvPicPr>
          <p:nvPr/>
        </p:nvPicPr>
        <p:blipFill>
          <a:blip r:embed="rId11"/>
          <a:stretch>
            <a:fillRect/>
          </a:stretch>
        </p:blipFill>
        <p:spPr>
          <a:xfrm>
            <a:off x="6492240" y="5266944"/>
            <a:ext cx="274320" cy="274320"/>
          </a:xfrm>
          <a:prstGeom prst="rect">
            <a:avLst/>
          </a:prstGeom>
        </p:spPr>
      </p:pic>
      <p:sp>
        <p:nvSpPr>
          <p:cNvPr id="26" name="Text 13"/>
          <p:cNvSpPr/>
          <p:nvPr/>
        </p:nvSpPr>
        <p:spPr>
          <a:xfrm>
            <a:off x="6903720" y="5193792"/>
            <a:ext cx="4434840" cy="685800"/>
          </a:xfrm>
          <a:prstGeom prst="rect">
            <a:avLst/>
          </a:prstGeom>
          <a:noFill/>
          <a:ln/>
        </p:spPr>
        <p:txBody>
          <a:bodyPr wrap="square" rtlCol="0" anchor="t"/>
          <a:lstStyle/>
          <a:p>
            <a:pPr indent="0" marL="0">
              <a:buNone/>
            </a:pPr>
            <a:r>
              <a:rPr lang="en-US" sz="1350" b="1" dirty="0">
                <a:solidFill>
                  <a:srgbClr val="13343B"/>
                </a:solidFill>
                <a:latin typeface="Calibri" pitchFamily="34" charset="0"/>
                <a:ea typeface="Calibri" pitchFamily="34" charset="-122"/>
                <a:cs typeface="Calibri" pitchFamily="34" charset="-120"/>
              </a:rPr>
              <a:t>Slower per release  </a:t>
            </a:r>
            <a:pPr indent="0" marL="0">
              <a:buNone/>
            </a:pPr>
            <a:r>
              <a:rPr lang="en-US" sz="1350" dirty="0">
                <a:solidFill>
                  <a:srgbClr val="5A7480"/>
                </a:solidFill>
                <a:latin typeface="Calibri" pitchFamily="34" charset="0"/>
                <a:ea typeface="Calibri" pitchFamily="34" charset="-122"/>
                <a:cs typeface="Calibri" pitchFamily="34" charset="-120"/>
              </a:rPr>
              <a:t>— gradual rollout; best for stateless HTTP apps</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Flagger - Progressive Delivery for Kubernetes</dc:title>
  <dc:subject>PptxGenJS Presentation</dc:subject>
  <dc:creator>Roger</dc:creator>
  <cp:lastModifiedBy>Roger</cp:lastModifiedBy>
  <cp:revision>1</cp:revision>
  <dcterms:created xsi:type="dcterms:W3CDTF">2026-06-25T15:46:00Z</dcterms:created>
  <dcterms:modified xsi:type="dcterms:W3CDTF">2026-06-25T15:46:00Z</dcterms:modified>
</cp:coreProperties>
</file>